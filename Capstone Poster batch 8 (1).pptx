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9601200" cy="12801600" type="A3"/>
  <p:notesSz cx="6858000" cy="9144000"/>
  <p:embeddedFontLst>
    <p:embeddedFont>
      <p:font typeface="Inter" panose="020B0604020202020204" charset="0"/>
      <p:regular r:id="rId4"/>
      <p:bold r:id="rId5"/>
    </p:embeddedFont>
    <p:embeddedFont>
      <p:font typeface="Plus Jakarta Sans" panose="020B0604020202020204" charset="0"/>
      <p:regular r:id="rId6"/>
      <p:bold r:id="rId7"/>
      <p:italic r:id="rId8"/>
      <p:boldItalic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haw7R1ZIsv2CMvKNaVklE+ELCCj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82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CD9AFC-DBB7-4C3A-AD35-2FB57B6D5A1E}" v="300" dt="2025-11-23T11:37:16.169"/>
  </p1510:revLst>
</p1510:revInfo>
</file>

<file path=ppt/tableStyles.xml><?xml version="1.0" encoding="utf-8"?>
<a:tblStyleLst xmlns:a="http://schemas.openxmlformats.org/drawingml/2006/main" def="{B1C1A5F2-C7F4-42EF-8194-A367FB17F6C2}">
  <a:tblStyle styleId="{B1C1A5F2-C7F4-42EF-8194-A367FB17F6C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2314"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24" Type="http://schemas.openxmlformats.org/officeDocument/2006/relationships/presProps" Target="presProps.xml"/><Relationship Id="rId5" Type="http://schemas.openxmlformats.org/officeDocument/2006/relationships/font" Target="fonts/font2.fntdata"/><Relationship Id="rId23" Type="http://customschemas.google.com/relationships/presentationmetadata" Target="metadata"/><Relationship Id="rId28" Type="http://schemas.microsoft.com/office/2015/10/relationships/revisionInfo" Target="revisionInfo.xml"/><Relationship Id="rId4" Type="http://schemas.openxmlformats.org/officeDocument/2006/relationships/font" Target="fonts/font1.fntdata"/><Relationship Id="rId9" Type="http://schemas.openxmlformats.org/officeDocument/2006/relationships/font" Target="fonts/font6.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p1: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12"/>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4032" userDrawn="1">
          <p15:clr>
            <a:srgbClr val="FBAE40"/>
          </p15:clr>
        </p15:guide>
        <p15:guide id="2" pos="30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18"/>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8_Title Slide">
  <p:cSld name="28_Title Slide">
    <p:spTree>
      <p:nvGrpSpPr>
        <p:cNvPr id="1" name="Shape 19"/>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0_Title Slide">
  <p:cSld name="30_Title Slide">
    <p:spTree>
      <p:nvGrpSpPr>
        <p:cNvPr id="1" name="Shape 2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1_Title Slide">
  <p:cSld name="31_Title Slide">
    <p:spTree>
      <p:nvGrpSpPr>
        <p:cNvPr id="1" name="Shape 22"/>
        <p:cNvGrpSpPr/>
        <p:nvPr/>
      </p:nvGrpSpPr>
      <p:grpSpPr>
        <a:xfrm>
          <a:off x="0" y="0"/>
          <a:ext cx="0" cy="0"/>
          <a:chOff x="0" y="0"/>
          <a:chExt cx="0" cy="0"/>
        </a:xfrm>
      </p:grpSpPr>
      <p:sp>
        <p:nvSpPr>
          <p:cNvPr id="23" name="Google Shape;23;p15"/>
          <p:cNvSpPr>
            <a:spLocks noGrp="1"/>
          </p:cNvSpPr>
          <p:nvPr>
            <p:ph type="pic" idx="2"/>
          </p:nvPr>
        </p:nvSpPr>
        <p:spPr>
          <a:xfrm>
            <a:off x="-1" y="1"/>
            <a:ext cx="7635954" cy="9088544"/>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24"/>
        <p:cNvGrpSpPr/>
        <p:nvPr/>
      </p:nvGrpSpPr>
      <p:grpSpPr>
        <a:xfrm>
          <a:off x="0" y="0"/>
          <a:ext cx="0" cy="0"/>
          <a:chOff x="0" y="0"/>
          <a:chExt cx="0" cy="0"/>
        </a:xfrm>
      </p:grpSpPr>
      <p:sp>
        <p:nvSpPr>
          <p:cNvPr id="25" name="Google Shape;25;p16"/>
          <p:cNvSpPr/>
          <p:nvPr/>
        </p:nvSpPr>
        <p:spPr>
          <a:xfrm>
            <a:off x="4800600" y="7005851"/>
            <a:ext cx="4800600" cy="4770437"/>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71997" tIns="35989" rIns="71997" bIns="35989" anchor="ctr" anchorCtr="0">
            <a:noAutofit/>
          </a:bodyPr>
          <a:lstStyle/>
          <a:p>
            <a:pPr marL="0" marR="0" lvl="0" indent="0" algn="ctr" rtl="0">
              <a:spcBef>
                <a:spcPts val="0"/>
              </a:spcBef>
              <a:spcAft>
                <a:spcPts val="0"/>
              </a:spcAft>
              <a:buNone/>
            </a:pPr>
            <a:endParaRPr sz="1418">
              <a:solidFill>
                <a:schemeClr val="lt1"/>
              </a:solidFill>
              <a:latin typeface="Plus Jakarta Sans"/>
              <a:ea typeface="Plus Jakarta Sans"/>
              <a:cs typeface="Plus Jakarta Sans"/>
              <a:sym typeface="Plus Jakarta Sans"/>
            </a:endParaRPr>
          </a:p>
        </p:txBody>
      </p:sp>
      <p:sp>
        <p:nvSpPr>
          <p:cNvPr id="26" name="Google Shape;26;p16"/>
          <p:cNvSpPr>
            <a:spLocks noGrp="1"/>
          </p:cNvSpPr>
          <p:nvPr>
            <p:ph type="pic" idx="2"/>
          </p:nvPr>
        </p:nvSpPr>
        <p:spPr>
          <a:xfrm>
            <a:off x="5368171" y="2367705"/>
            <a:ext cx="1875056" cy="5556945"/>
          </a:xfrm>
          <a:prstGeom prst="rect">
            <a:avLst/>
          </a:prstGeom>
          <a:solidFill>
            <a:srgbClr val="F2F2F2"/>
          </a:solidFill>
          <a:ln>
            <a:noFill/>
          </a:ln>
        </p:spPr>
      </p:sp>
      <p:sp>
        <p:nvSpPr>
          <p:cNvPr id="27" name="Google Shape;27;p16"/>
          <p:cNvSpPr>
            <a:spLocks noGrp="1"/>
          </p:cNvSpPr>
          <p:nvPr>
            <p:ph type="pic" idx="3"/>
          </p:nvPr>
        </p:nvSpPr>
        <p:spPr>
          <a:xfrm>
            <a:off x="7462362" y="2367705"/>
            <a:ext cx="1875056" cy="555694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3_Title Slide">
  <p:cSld name="33_Title Slide">
    <p:spTree>
      <p:nvGrpSpPr>
        <p:cNvPr id="1" name="Shape 28"/>
        <p:cNvGrpSpPr/>
        <p:nvPr/>
      </p:nvGrpSpPr>
      <p:grpSpPr>
        <a:xfrm>
          <a:off x="0" y="0"/>
          <a:ext cx="0" cy="0"/>
          <a:chOff x="0" y="0"/>
          <a:chExt cx="0" cy="0"/>
        </a:xfrm>
      </p:grpSpPr>
      <p:sp>
        <p:nvSpPr>
          <p:cNvPr id="29" name="Google Shape;29;p17"/>
          <p:cNvSpPr>
            <a:spLocks noGrp="1"/>
          </p:cNvSpPr>
          <p:nvPr>
            <p:ph type="pic" idx="2"/>
          </p:nvPr>
        </p:nvSpPr>
        <p:spPr>
          <a:xfrm>
            <a:off x="-1" y="1025312"/>
            <a:ext cx="3933627" cy="10750973"/>
          </a:xfrm>
          <a:prstGeom prst="rect">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4_Title Slide">
  <p:cSld name="34_Title Slide">
    <p:spTree>
      <p:nvGrpSpPr>
        <p:cNvPr id="1" name="Shape 30"/>
        <p:cNvGrpSpPr/>
        <p:nvPr/>
      </p:nvGrpSpPr>
      <p:grpSpPr>
        <a:xfrm>
          <a:off x="0" y="0"/>
          <a:ext cx="0" cy="0"/>
          <a:chOff x="0" y="0"/>
          <a:chExt cx="0" cy="0"/>
        </a:xfrm>
      </p:grpSpPr>
      <p:sp>
        <p:nvSpPr>
          <p:cNvPr id="31" name="Google Shape;31;p18"/>
          <p:cNvSpPr>
            <a:spLocks noGrp="1"/>
          </p:cNvSpPr>
          <p:nvPr>
            <p:ph type="pic" idx="2"/>
          </p:nvPr>
        </p:nvSpPr>
        <p:spPr>
          <a:xfrm>
            <a:off x="4800600" y="2370667"/>
            <a:ext cx="4800601" cy="8063231"/>
          </a:xfrm>
          <a:prstGeom prst="rect">
            <a:avLst/>
          </a:prstGeom>
          <a:solidFill>
            <a:srgbClr val="F2F2F2"/>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032" userDrawn="1">
          <p15:clr>
            <a:srgbClr val="A4A3A4"/>
          </p15:clr>
        </p15:guide>
        <p15:guide id="2" pos="3024" userDrawn="1">
          <p15:clr>
            <a:srgbClr val="A4A3A4"/>
          </p15:clr>
        </p15:guide>
        <p15:guide id="3" orient="horz" pos="1491" userDrawn="1">
          <p15:clr>
            <a:srgbClr val="A4A3A4"/>
          </p15:clr>
        </p15:guide>
        <p15:guide id="4" orient="horz" pos="646" userDrawn="1">
          <p15:clr>
            <a:srgbClr val="A4A3A4"/>
          </p15:clr>
        </p15:guide>
        <p15:guide id="5" orient="horz" pos="2339" userDrawn="1">
          <p15:clr>
            <a:srgbClr val="A4A3A4"/>
          </p15:clr>
        </p15:guide>
        <p15:guide id="6" orient="horz" pos="3185" userDrawn="1">
          <p15:clr>
            <a:srgbClr val="A4A3A4"/>
          </p15:clr>
        </p15:guide>
        <p15:guide id="7" orient="horz" pos="4879" userDrawn="1">
          <p15:clr>
            <a:srgbClr val="A4A3A4"/>
          </p15:clr>
        </p15:guide>
        <p15:guide id="8" orient="horz" pos="5725" userDrawn="1">
          <p15:clr>
            <a:srgbClr val="A4A3A4"/>
          </p15:clr>
        </p15:guide>
        <p15:guide id="9" orient="horz" pos="6573" userDrawn="1">
          <p15:clr>
            <a:srgbClr val="A4A3A4"/>
          </p15:clr>
        </p15:guide>
        <p15:guide id="10" orient="horz" pos="7418" userDrawn="1">
          <p15:clr>
            <a:srgbClr val="A4A3A4"/>
          </p15:clr>
        </p15:guide>
        <p15:guide id="11" pos="3382" userDrawn="1">
          <p15:clr>
            <a:srgbClr val="A4A3A4"/>
          </p15:clr>
        </p15:guide>
        <p15:guide id="12" pos="3738" userDrawn="1">
          <p15:clr>
            <a:srgbClr val="A4A3A4"/>
          </p15:clr>
        </p15:guide>
        <p15:guide id="13" pos="166" userDrawn="1">
          <p15:clr>
            <a:srgbClr val="A4A3A4"/>
          </p15:clr>
        </p15:guide>
        <p15:guide id="14" pos="524" userDrawn="1">
          <p15:clr>
            <a:srgbClr val="A4A3A4"/>
          </p15:clr>
        </p15:guide>
        <p15:guide id="15" pos="880" userDrawn="1">
          <p15:clr>
            <a:srgbClr val="A4A3A4"/>
          </p15:clr>
        </p15:guide>
        <p15:guide id="16" pos="1238" userDrawn="1">
          <p15:clr>
            <a:srgbClr val="A4A3A4"/>
          </p15:clr>
        </p15:guide>
        <p15:guide id="17" pos="1595" userDrawn="1">
          <p15:clr>
            <a:srgbClr val="A4A3A4"/>
          </p15:clr>
        </p15:guide>
        <p15:guide id="18" pos="1952" userDrawn="1">
          <p15:clr>
            <a:srgbClr val="A4A3A4"/>
          </p15:clr>
        </p15:guide>
        <p15:guide id="19" pos="2310" userDrawn="1">
          <p15:clr>
            <a:srgbClr val="A4A3A4"/>
          </p15:clr>
        </p15:guide>
        <p15:guide id="20" pos="2666" userDrawn="1">
          <p15:clr>
            <a:srgbClr val="A4A3A4"/>
          </p15:clr>
        </p15:guide>
        <p15:guide id="21" pos="4096" userDrawn="1">
          <p15:clr>
            <a:srgbClr val="A4A3A4"/>
          </p15:clr>
        </p15:guide>
        <p15:guide id="22" pos="4453" userDrawn="1">
          <p15:clr>
            <a:srgbClr val="A4A3A4"/>
          </p15:clr>
        </p15:guide>
        <p15:guide id="23" pos="4810" userDrawn="1">
          <p15:clr>
            <a:srgbClr val="A4A3A4"/>
          </p15:clr>
        </p15:guide>
        <p15:guide id="24" pos="5168" userDrawn="1">
          <p15:clr>
            <a:srgbClr val="A4A3A4"/>
          </p15:clr>
        </p15:guide>
        <p15:guide id="25" pos="5524" userDrawn="1">
          <p15:clr>
            <a:srgbClr val="A4A3A4"/>
          </p15:clr>
        </p15:guide>
        <p15:guide id="26" pos="5882" userDrawn="1">
          <p15:clr>
            <a:srgbClr val="A4A3A4"/>
          </p15:clr>
        </p15:guide>
        <p15:guide id="27" pos="273" userDrawn="1">
          <p15:clr>
            <a:srgbClr val="F26B43"/>
          </p15:clr>
        </p15:guide>
        <p15:guide id="28" pos="577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757128" y="443273"/>
            <a:ext cx="6670714" cy="442013"/>
          </a:xfrm>
          <a:prstGeom prst="rect">
            <a:avLst/>
          </a:prstGeom>
          <a:noFill/>
          <a:ln>
            <a:noFill/>
          </a:ln>
        </p:spPr>
        <p:txBody>
          <a:bodyPr spcFirstLastPara="1" wrap="square" lIns="71997" tIns="35989" rIns="71997" bIns="35989" anchor="t" anchorCtr="0">
            <a:spAutoFit/>
          </a:bodyPr>
          <a:lstStyle/>
          <a:p>
            <a:r>
              <a:rPr lang="en-US" sz="2400" b="1" dirty="0">
                <a:solidFill>
                  <a:schemeClr val="accent4">
                    <a:lumMod val="76000"/>
                  </a:schemeClr>
                </a:solidFill>
                <a:latin typeface="Times New Roman"/>
                <a:ea typeface="Inter"/>
                <a:cs typeface="Times New Roman"/>
                <a:sym typeface="Inter"/>
              </a:rPr>
              <a:t>Impact Ratio of Social Media/Al on the Youth</a:t>
            </a:r>
            <a:endParaRPr lang="en-US" sz="2400" dirty="0">
              <a:solidFill>
                <a:schemeClr val="accent4">
                  <a:lumMod val="76000"/>
                </a:schemeClr>
              </a:solidFill>
            </a:endParaRPr>
          </a:p>
        </p:txBody>
      </p:sp>
      <p:grpSp>
        <p:nvGrpSpPr>
          <p:cNvPr id="37" name="Google Shape;37;p1"/>
          <p:cNvGrpSpPr/>
          <p:nvPr/>
        </p:nvGrpSpPr>
        <p:grpSpPr>
          <a:xfrm>
            <a:off x="757127" y="356829"/>
            <a:ext cx="6540488" cy="740854"/>
            <a:chOff x="894442" y="2675335"/>
            <a:chExt cx="7570108" cy="940767"/>
          </a:xfrm>
        </p:grpSpPr>
        <p:sp>
          <p:nvSpPr>
            <p:cNvPr id="38" name="Google Shape;38;p1"/>
            <p:cNvSpPr/>
            <p:nvPr/>
          </p:nvSpPr>
          <p:spPr>
            <a:xfrm>
              <a:off x="894442" y="2675335"/>
              <a:ext cx="7570108" cy="45719"/>
            </a:xfrm>
            <a:prstGeom prst="rect">
              <a:avLst/>
            </a:prstGeom>
            <a:solidFill>
              <a:srgbClr val="A58255"/>
            </a:solidFill>
            <a:ln>
              <a:noFill/>
            </a:ln>
          </p:spPr>
          <p:txBody>
            <a:bodyPr spcFirstLastPara="1" wrap="square" lIns="71997" tIns="35989" rIns="71997" bIns="35989" anchor="ctr" anchorCtr="0">
              <a:noAutofit/>
            </a:bodyPr>
            <a:lstStyle/>
            <a:p>
              <a:pPr algn="ctr"/>
              <a:endParaRPr sz="1418">
                <a:solidFill>
                  <a:schemeClr val="lt1"/>
                </a:solidFill>
                <a:latin typeface="Inter"/>
                <a:ea typeface="Inter"/>
                <a:cs typeface="Inter"/>
                <a:sym typeface="Inter"/>
              </a:endParaRPr>
            </a:p>
          </p:txBody>
        </p:sp>
        <p:sp>
          <p:nvSpPr>
            <p:cNvPr id="39" name="Google Shape;39;p1"/>
            <p:cNvSpPr/>
            <p:nvPr/>
          </p:nvSpPr>
          <p:spPr>
            <a:xfrm>
              <a:off x="894442" y="3570383"/>
              <a:ext cx="7570108" cy="45719"/>
            </a:xfrm>
            <a:prstGeom prst="rect">
              <a:avLst/>
            </a:prstGeom>
            <a:solidFill>
              <a:srgbClr val="A58255"/>
            </a:solidFill>
            <a:ln>
              <a:noFill/>
            </a:ln>
          </p:spPr>
          <p:txBody>
            <a:bodyPr spcFirstLastPara="1" wrap="square" lIns="71997" tIns="35989" rIns="71997" bIns="35989" anchor="ctr" anchorCtr="0">
              <a:noAutofit/>
            </a:bodyPr>
            <a:lstStyle/>
            <a:p>
              <a:pPr algn="ctr"/>
              <a:endParaRPr sz="1418">
                <a:solidFill>
                  <a:schemeClr val="lt1"/>
                </a:solidFill>
                <a:latin typeface="Inter"/>
                <a:ea typeface="Inter"/>
                <a:cs typeface="Inter"/>
                <a:sym typeface="Inter"/>
              </a:endParaRPr>
            </a:p>
          </p:txBody>
        </p:sp>
      </p:grpSp>
      <p:sp>
        <p:nvSpPr>
          <p:cNvPr id="40" name="Google Shape;40;p1"/>
          <p:cNvSpPr txBox="1"/>
          <p:nvPr/>
        </p:nvSpPr>
        <p:spPr>
          <a:xfrm>
            <a:off x="757127" y="1159308"/>
            <a:ext cx="3194752" cy="363530"/>
          </a:xfrm>
          <a:prstGeom prst="rect">
            <a:avLst/>
          </a:prstGeom>
          <a:noFill/>
          <a:ln>
            <a:noFill/>
          </a:ln>
        </p:spPr>
        <p:txBody>
          <a:bodyPr spcFirstLastPara="1" wrap="square" lIns="71997" tIns="35989" rIns="71997" bIns="35989" anchor="t" anchorCtr="0">
            <a:spAutoFit/>
          </a:bodyPr>
          <a:lstStyle/>
          <a:p>
            <a:r>
              <a:rPr lang="en-US" sz="1890" dirty="0">
                <a:solidFill>
                  <a:srgbClr val="004740"/>
                </a:solidFill>
                <a:latin typeface="Inter"/>
                <a:ea typeface="Inter"/>
                <a:cs typeface="Inter"/>
                <a:sym typeface="Inter"/>
              </a:rPr>
              <a:t>Presenter Names</a:t>
            </a:r>
            <a:endParaRPr sz="1103" dirty="0">
              <a:latin typeface="Inter"/>
              <a:ea typeface="Inter"/>
              <a:cs typeface="Inter"/>
              <a:sym typeface="Inter"/>
            </a:endParaRPr>
          </a:p>
        </p:txBody>
      </p:sp>
      <p:sp>
        <p:nvSpPr>
          <p:cNvPr id="10" name="Google Shape;10;p6"/>
          <p:cNvSpPr txBox="1"/>
          <p:nvPr/>
        </p:nvSpPr>
        <p:spPr>
          <a:xfrm>
            <a:off x="320511" y="12444771"/>
            <a:ext cx="3771974" cy="290882"/>
          </a:xfrm>
          <a:prstGeom prst="rect">
            <a:avLst/>
          </a:prstGeom>
          <a:noFill/>
          <a:ln>
            <a:noFill/>
          </a:ln>
        </p:spPr>
        <p:txBody>
          <a:bodyPr spcFirstLastPara="1" wrap="square" lIns="71997" tIns="35989" rIns="71997" bIns="35989" anchor="t" anchorCtr="0">
            <a:spAutoFit/>
          </a:bodyPr>
          <a:lstStyle/>
          <a:p>
            <a:pPr>
              <a:buClr>
                <a:srgbClr val="7F7F7F"/>
              </a:buClr>
              <a:buSzPts val="1800"/>
            </a:pPr>
            <a:r>
              <a:rPr lang="en-US" dirty="0">
                <a:solidFill>
                  <a:srgbClr val="7F7F7F"/>
                </a:solidFill>
                <a:latin typeface="Inter"/>
                <a:ea typeface="Inter"/>
                <a:cs typeface="Open Sans"/>
              </a:rPr>
              <a:t>GITAM School of Science and Technology</a:t>
            </a:r>
            <a:endParaRPr lang="en-US" dirty="0">
              <a:solidFill>
                <a:srgbClr val="7F7F7F"/>
              </a:solidFill>
              <a:latin typeface="Inter" panose="020B0604020202020204" charset="0"/>
              <a:ea typeface="Inter" panose="020B0604020202020204" charset="0"/>
              <a:cs typeface="Open Sans"/>
            </a:endParaRPr>
          </a:p>
        </p:txBody>
      </p:sp>
      <p:pic>
        <p:nvPicPr>
          <p:cNvPr id="11" name="Google Shape;11;p6"/>
          <p:cNvPicPr preferRelativeResize="0"/>
          <p:nvPr/>
        </p:nvPicPr>
        <p:blipFill rotWithShape="1">
          <a:blip r:embed="rId3">
            <a:alphaModFix/>
          </a:blip>
          <a:srcRect/>
          <a:stretch/>
        </p:blipFill>
        <p:spPr>
          <a:xfrm>
            <a:off x="7535012" y="356829"/>
            <a:ext cx="1653751" cy="708750"/>
          </a:xfrm>
          <a:prstGeom prst="rect">
            <a:avLst/>
          </a:prstGeom>
          <a:noFill/>
          <a:ln>
            <a:noFill/>
          </a:ln>
        </p:spPr>
      </p:pic>
      <p:sp>
        <p:nvSpPr>
          <p:cNvPr id="2" name="Google Shape;40;p1">
            <a:extLst>
              <a:ext uri="{FF2B5EF4-FFF2-40B4-BE49-F238E27FC236}">
                <a16:creationId xmlns:a16="http://schemas.microsoft.com/office/drawing/2014/main" id="{67B14CDF-2335-5CC7-06B9-A671E2CD1B3D}"/>
              </a:ext>
            </a:extLst>
          </p:cNvPr>
          <p:cNvSpPr txBox="1"/>
          <p:nvPr/>
        </p:nvSpPr>
        <p:spPr>
          <a:xfrm>
            <a:off x="757127" y="1842705"/>
            <a:ext cx="3194752" cy="363530"/>
          </a:xfrm>
          <a:prstGeom prst="rect">
            <a:avLst/>
          </a:prstGeom>
          <a:noFill/>
          <a:ln>
            <a:noFill/>
          </a:ln>
        </p:spPr>
        <p:txBody>
          <a:bodyPr spcFirstLastPara="1" wrap="square" lIns="71997" tIns="35989" rIns="71997" bIns="35989" anchor="t" anchorCtr="0">
            <a:spAutoFit/>
          </a:bodyPr>
          <a:lstStyle/>
          <a:p>
            <a:r>
              <a:rPr lang="en-US" sz="1890" dirty="0">
                <a:solidFill>
                  <a:srgbClr val="004740"/>
                </a:solidFill>
                <a:latin typeface="Inter"/>
                <a:ea typeface="Inter"/>
                <a:cs typeface="Inter"/>
                <a:sym typeface="Inter"/>
              </a:rPr>
              <a:t>Guide Name</a:t>
            </a:r>
            <a:endParaRPr sz="1103" dirty="0">
              <a:latin typeface="Inter"/>
              <a:ea typeface="Inter"/>
              <a:cs typeface="Inter"/>
              <a:sym typeface="Inter"/>
            </a:endParaRPr>
          </a:p>
        </p:txBody>
      </p:sp>
      <p:sp>
        <p:nvSpPr>
          <p:cNvPr id="4" name="TextBox 3">
            <a:extLst>
              <a:ext uri="{FF2B5EF4-FFF2-40B4-BE49-F238E27FC236}">
                <a16:creationId xmlns:a16="http://schemas.microsoft.com/office/drawing/2014/main" id="{5A8D4303-B808-6D72-7EC1-41A275B07B28}"/>
              </a:ext>
            </a:extLst>
          </p:cNvPr>
          <p:cNvSpPr txBox="1"/>
          <p:nvPr/>
        </p:nvSpPr>
        <p:spPr>
          <a:xfrm>
            <a:off x="723251" y="2367798"/>
            <a:ext cx="4043473" cy="307777"/>
          </a:xfrm>
          <a:prstGeom prst="rect">
            <a:avLst/>
          </a:prstGeom>
          <a:solidFill>
            <a:srgbClr val="A58255"/>
          </a:solidFill>
        </p:spPr>
        <p:txBody>
          <a:bodyPr wrap="square">
            <a:spAutoFit/>
          </a:bodyPr>
          <a:lstStyle/>
          <a:p>
            <a:pPr rtl="0">
              <a:spcBef>
                <a:spcPts val="0"/>
              </a:spcBef>
              <a:spcAft>
                <a:spcPts val="0"/>
              </a:spcAft>
            </a:pPr>
            <a:r>
              <a:rPr lang="en-IN" sz="1400" b="1" i="0" u="none" strike="noStrike" dirty="0">
                <a:solidFill>
                  <a:schemeClr val="bg1"/>
                </a:solidFill>
                <a:effectLst/>
                <a:latin typeface="Inter" panose="020B0604020202020204" charset="0"/>
              </a:rPr>
              <a:t>Introduction</a:t>
            </a:r>
            <a:endParaRPr lang="en-IN" b="0" dirty="0">
              <a:solidFill>
                <a:schemeClr val="bg1"/>
              </a:solidFill>
              <a:effectLst/>
            </a:endParaRPr>
          </a:p>
        </p:txBody>
      </p:sp>
      <p:sp>
        <p:nvSpPr>
          <p:cNvPr id="5" name="TextBox 4">
            <a:extLst>
              <a:ext uri="{FF2B5EF4-FFF2-40B4-BE49-F238E27FC236}">
                <a16:creationId xmlns:a16="http://schemas.microsoft.com/office/drawing/2014/main" id="{00ABFA7C-2C1F-6058-A3A7-449112B8110F}"/>
              </a:ext>
            </a:extLst>
          </p:cNvPr>
          <p:cNvSpPr txBox="1"/>
          <p:nvPr/>
        </p:nvSpPr>
        <p:spPr>
          <a:xfrm>
            <a:off x="723250" y="5670502"/>
            <a:ext cx="4043473" cy="307777"/>
          </a:xfrm>
          <a:prstGeom prst="rect">
            <a:avLst/>
          </a:prstGeom>
          <a:solidFill>
            <a:srgbClr val="A58255"/>
          </a:solidFill>
        </p:spPr>
        <p:txBody>
          <a:bodyPr wrap="square">
            <a:spAutoFit/>
          </a:bodyPr>
          <a:lstStyle/>
          <a:p>
            <a:r>
              <a:rPr lang="en-IN" b="1" dirty="0">
                <a:solidFill>
                  <a:schemeClr val="bg1"/>
                </a:solidFill>
                <a:latin typeface="Inter" panose="020B0604020202020204" charset="0"/>
              </a:rPr>
              <a:t>Literature Review</a:t>
            </a:r>
            <a:endParaRPr lang="en-IN" dirty="0">
              <a:solidFill>
                <a:schemeClr val="bg1"/>
              </a:solidFill>
            </a:endParaRPr>
          </a:p>
        </p:txBody>
      </p:sp>
      <p:sp>
        <p:nvSpPr>
          <p:cNvPr id="6" name="TextBox 5">
            <a:extLst>
              <a:ext uri="{FF2B5EF4-FFF2-40B4-BE49-F238E27FC236}">
                <a16:creationId xmlns:a16="http://schemas.microsoft.com/office/drawing/2014/main" id="{52851974-E5B7-2CE6-48CC-144A45C063EE}"/>
              </a:ext>
            </a:extLst>
          </p:cNvPr>
          <p:cNvSpPr txBox="1"/>
          <p:nvPr/>
        </p:nvSpPr>
        <p:spPr>
          <a:xfrm>
            <a:off x="723250" y="8973206"/>
            <a:ext cx="4043473" cy="307777"/>
          </a:xfrm>
          <a:prstGeom prst="rect">
            <a:avLst/>
          </a:prstGeom>
          <a:solidFill>
            <a:srgbClr val="A58255"/>
          </a:solidFill>
        </p:spPr>
        <p:txBody>
          <a:bodyPr wrap="square">
            <a:spAutoFit/>
          </a:bodyPr>
          <a:lstStyle/>
          <a:p>
            <a:r>
              <a:rPr lang="en-US" b="1" dirty="0">
                <a:solidFill>
                  <a:schemeClr val="bg1"/>
                </a:solidFill>
                <a:latin typeface="Inter" panose="020B0604020202020204" charset="0"/>
              </a:rPr>
              <a:t>R</a:t>
            </a:r>
            <a:r>
              <a:rPr lang="en-IN" b="1" dirty="0" err="1">
                <a:solidFill>
                  <a:schemeClr val="bg1"/>
                </a:solidFill>
                <a:latin typeface="Inter" panose="020B0604020202020204" charset="0"/>
              </a:rPr>
              <a:t>esearch</a:t>
            </a:r>
            <a:r>
              <a:rPr lang="en-IN" b="1" dirty="0">
                <a:solidFill>
                  <a:schemeClr val="bg1"/>
                </a:solidFill>
                <a:latin typeface="Inter" panose="020B0604020202020204" charset="0"/>
              </a:rPr>
              <a:t> Gaps</a:t>
            </a:r>
            <a:endParaRPr lang="en-IN" dirty="0">
              <a:solidFill>
                <a:schemeClr val="bg1"/>
              </a:solidFill>
            </a:endParaRPr>
          </a:p>
        </p:txBody>
      </p:sp>
      <p:sp>
        <p:nvSpPr>
          <p:cNvPr id="7" name="TextBox 6">
            <a:extLst>
              <a:ext uri="{FF2B5EF4-FFF2-40B4-BE49-F238E27FC236}">
                <a16:creationId xmlns:a16="http://schemas.microsoft.com/office/drawing/2014/main" id="{D531B664-2A91-F2F8-E8A9-F2C00A3A34CD}"/>
              </a:ext>
            </a:extLst>
          </p:cNvPr>
          <p:cNvSpPr txBox="1"/>
          <p:nvPr/>
        </p:nvSpPr>
        <p:spPr>
          <a:xfrm>
            <a:off x="5145290" y="2367798"/>
            <a:ext cx="4043473" cy="307777"/>
          </a:xfrm>
          <a:prstGeom prst="rect">
            <a:avLst/>
          </a:prstGeom>
          <a:solidFill>
            <a:srgbClr val="A58255"/>
          </a:solidFill>
        </p:spPr>
        <p:txBody>
          <a:bodyPr wrap="square">
            <a:spAutoFit/>
          </a:bodyPr>
          <a:lstStyle/>
          <a:p>
            <a:r>
              <a:rPr lang="en-IN" b="1" dirty="0">
                <a:solidFill>
                  <a:schemeClr val="bg1"/>
                </a:solidFill>
                <a:latin typeface="Inter" panose="020B0604020202020204" charset="0"/>
              </a:rPr>
              <a:t>Proposed Methodology</a:t>
            </a:r>
            <a:endParaRPr lang="en-IN" dirty="0">
              <a:solidFill>
                <a:schemeClr val="bg1"/>
              </a:solidFill>
            </a:endParaRPr>
          </a:p>
        </p:txBody>
      </p:sp>
      <p:sp>
        <p:nvSpPr>
          <p:cNvPr id="8" name="TextBox 7">
            <a:extLst>
              <a:ext uri="{FF2B5EF4-FFF2-40B4-BE49-F238E27FC236}">
                <a16:creationId xmlns:a16="http://schemas.microsoft.com/office/drawing/2014/main" id="{AA0FD7D1-DC00-534A-A08A-2648589F43D6}"/>
              </a:ext>
            </a:extLst>
          </p:cNvPr>
          <p:cNvSpPr txBox="1"/>
          <p:nvPr/>
        </p:nvSpPr>
        <p:spPr>
          <a:xfrm>
            <a:off x="5145289" y="5670502"/>
            <a:ext cx="4043473" cy="523220"/>
          </a:xfrm>
          <a:prstGeom prst="rect">
            <a:avLst/>
          </a:prstGeom>
          <a:solidFill>
            <a:srgbClr val="A58255"/>
          </a:solidFill>
        </p:spPr>
        <p:txBody>
          <a:bodyPr wrap="square">
            <a:spAutoFit/>
          </a:bodyPr>
          <a:lstStyle/>
          <a:p>
            <a:pPr rtl="0">
              <a:spcBef>
                <a:spcPts val="0"/>
              </a:spcBef>
              <a:spcAft>
                <a:spcPts val="0"/>
              </a:spcAft>
            </a:pPr>
            <a:r>
              <a:rPr lang="en-US" b="1" dirty="0">
                <a:solidFill>
                  <a:schemeClr val="bg1"/>
                </a:solidFill>
                <a:effectLst/>
              </a:rPr>
              <a:t>Identification of Tools/ Technology / Algorithms</a:t>
            </a:r>
            <a:endParaRPr lang="en-IN" b="1" dirty="0">
              <a:solidFill>
                <a:schemeClr val="bg1"/>
              </a:solidFill>
              <a:effectLst/>
            </a:endParaRPr>
          </a:p>
        </p:txBody>
      </p:sp>
      <p:sp>
        <p:nvSpPr>
          <p:cNvPr id="9" name="TextBox 8">
            <a:extLst>
              <a:ext uri="{FF2B5EF4-FFF2-40B4-BE49-F238E27FC236}">
                <a16:creationId xmlns:a16="http://schemas.microsoft.com/office/drawing/2014/main" id="{53A8D2F5-177F-5785-AFC3-A2EDC9A3C83C}"/>
              </a:ext>
            </a:extLst>
          </p:cNvPr>
          <p:cNvSpPr txBox="1"/>
          <p:nvPr/>
        </p:nvSpPr>
        <p:spPr>
          <a:xfrm>
            <a:off x="5145289" y="8973206"/>
            <a:ext cx="4043473" cy="307777"/>
          </a:xfrm>
          <a:prstGeom prst="rect">
            <a:avLst/>
          </a:prstGeom>
          <a:solidFill>
            <a:srgbClr val="A58255"/>
          </a:solidFill>
        </p:spPr>
        <p:txBody>
          <a:bodyPr wrap="square">
            <a:spAutoFit/>
          </a:bodyPr>
          <a:lstStyle/>
          <a:p>
            <a:pPr rtl="0">
              <a:spcBef>
                <a:spcPts val="0"/>
              </a:spcBef>
              <a:spcAft>
                <a:spcPts val="0"/>
              </a:spcAft>
            </a:pPr>
            <a:r>
              <a:rPr lang="en-IN" sz="1400" b="1" i="0" u="none" strike="noStrike" dirty="0">
                <a:solidFill>
                  <a:schemeClr val="bg1"/>
                </a:solidFill>
                <a:effectLst/>
                <a:latin typeface="Inter" panose="020B0604020202020204" charset="0"/>
              </a:rPr>
              <a:t>References</a:t>
            </a:r>
            <a:endParaRPr lang="en-IN" b="0" dirty="0">
              <a:solidFill>
                <a:schemeClr val="bg1"/>
              </a:solidFill>
              <a:effectLst/>
            </a:endParaRPr>
          </a:p>
        </p:txBody>
      </p:sp>
      <p:sp>
        <p:nvSpPr>
          <p:cNvPr id="13" name="TextBox 12">
            <a:extLst>
              <a:ext uri="{FF2B5EF4-FFF2-40B4-BE49-F238E27FC236}">
                <a16:creationId xmlns:a16="http://schemas.microsoft.com/office/drawing/2014/main" id="{4CA306FE-10A0-9157-4B8D-1D4A15DC69B8}"/>
              </a:ext>
            </a:extLst>
          </p:cNvPr>
          <p:cNvSpPr txBox="1"/>
          <p:nvPr/>
        </p:nvSpPr>
        <p:spPr>
          <a:xfrm>
            <a:off x="723250" y="2675575"/>
            <a:ext cx="4043473" cy="2804755"/>
          </a:xfrm>
          <a:prstGeom prst="rect">
            <a:avLst/>
          </a:prstGeom>
          <a:noFill/>
          <a:ln>
            <a:solidFill>
              <a:srgbClr val="A58255"/>
            </a:solidFill>
          </a:ln>
        </p:spPr>
        <p:txBody>
          <a:bodyPr wrap="square" lIns="91440" tIns="45720" rIns="91440" bIns="45720" rtlCol="0" anchor="t">
            <a:noAutofit/>
          </a:bodyPr>
          <a:lstStyle/>
          <a:p>
            <a:r>
              <a:rPr lang="en-US" sz="1200" b="1" dirty="0"/>
              <a:t>Social media and AI are deeply influencing youth by affecting their mental health, productivity, and social interactions. Although AI supports early mental-health detection and peer counseling, it still lacks empathy and real-world reliability. At the same time, algorithm-driven platforms expose youth to bias, misinformation, and peer pressure. Existing research covers these areas separately but does not provide a combined view of their overall impact. Therefore, there is a need to evaluate the impact ratio of social media and AI on youth and develop balanced counseling strategies that ensure digital well-being while reducing risks.</a:t>
            </a:r>
          </a:p>
          <a:p>
            <a:endParaRPr lang="en-IN" dirty="0"/>
          </a:p>
        </p:txBody>
      </p:sp>
      <p:sp>
        <p:nvSpPr>
          <p:cNvPr id="14" name="TextBox 13">
            <a:extLst>
              <a:ext uri="{FF2B5EF4-FFF2-40B4-BE49-F238E27FC236}">
                <a16:creationId xmlns:a16="http://schemas.microsoft.com/office/drawing/2014/main" id="{63D079A6-E7E3-C042-5F17-907B62763667}"/>
              </a:ext>
            </a:extLst>
          </p:cNvPr>
          <p:cNvSpPr txBox="1"/>
          <p:nvPr/>
        </p:nvSpPr>
        <p:spPr>
          <a:xfrm>
            <a:off x="723250" y="5978279"/>
            <a:ext cx="4043473" cy="2800258"/>
          </a:xfrm>
          <a:prstGeom prst="rect">
            <a:avLst/>
          </a:prstGeom>
          <a:noFill/>
          <a:ln>
            <a:solidFill>
              <a:srgbClr val="A58255"/>
            </a:solidFill>
          </a:ln>
        </p:spPr>
        <p:txBody>
          <a:bodyPr wrap="square" lIns="91440" tIns="45720" rIns="91440" bIns="45720" rtlCol="0" anchor="t">
            <a:noAutofit/>
          </a:bodyPr>
          <a:lstStyle/>
          <a:p>
            <a:r>
              <a:rPr lang="en-US" b="1" dirty="0"/>
              <a:t>The reviewed studies show that AI models like BERT can detect mental health issues from social media but face bias and reliability issues. Youth accept AI for casual support but prefer humans in emotional crises. Generative AI introduces risks such as misinformation and harmful content, while social-media algorithms create peer pressure and affect mental well-being. Overall, the literature highlights both benefits and significant risks for youth.</a:t>
            </a:r>
          </a:p>
        </p:txBody>
      </p:sp>
      <p:sp>
        <p:nvSpPr>
          <p:cNvPr id="15" name="TextBox 14">
            <a:extLst>
              <a:ext uri="{FF2B5EF4-FFF2-40B4-BE49-F238E27FC236}">
                <a16:creationId xmlns:a16="http://schemas.microsoft.com/office/drawing/2014/main" id="{8BA88C70-337A-5527-7D00-1C52F65DC333}"/>
              </a:ext>
            </a:extLst>
          </p:cNvPr>
          <p:cNvSpPr txBox="1"/>
          <p:nvPr/>
        </p:nvSpPr>
        <p:spPr>
          <a:xfrm>
            <a:off x="755360" y="9287189"/>
            <a:ext cx="4043473" cy="1285760"/>
          </a:xfrm>
          <a:prstGeom prst="rect">
            <a:avLst/>
          </a:prstGeom>
          <a:noFill/>
          <a:ln>
            <a:solidFill>
              <a:srgbClr val="A58255"/>
            </a:solidFill>
          </a:ln>
        </p:spPr>
        <p:txBody>
          <a:bodyPr wrap="square" lIns="91440" tIns="45720" rIns="91440" bIns="45720" rtlCol="0" anchor="t">
            <a:noAutofit/>
          </a:bodyPr>
          <a:lstStyle/>
          <a:p>
            <a:r>
              <a:rPr lang="en-US" b="1" dirty="0"/>
              <a:t>Existing studies focus on separate aspects of AI and social media but lack a combined analysis of their overall impact on youth.</a:t>
            </a:r>
            <a:br>
              <a:rPr lang="en-US" b="1" dirty="0"/>
            </a:br>
            <a:r>
              <a:rPr lang="en-US" b="1" dirty="0"/>
              <a:t> Most models use biased datasets and lack real-world validation, leaving gaps in understanding risks and long-term effects.</a:t>
            </a:r>
          </a:p>
        </p:txBody>
      </p:sp>
      <p:sp>
        <p:nvSpPr>
          <p:cNvPr id="16" name="TextBox 15">
            <a:extLst>
              <a:ext uri="{FF2B5EF4-FFF2-40B4-BE49-F238E27FC236}">
                <a16:creationId xmlns:a16="http://schemas.microsoft.com/office/drawing/2014/main" id="{9E9A5E9D-0554-E5EC-DACF-B3BB0EAABD36}"/>
              </a:ext>
            </a:extLst>
          </p:cNvPr>
          <p:cNvSpPr txBox="1"/>
          <p:nvPr/>
        </p:nvSpPr>
        <p:spPr>
          <a:xfrm>
            <a:off x="5145288" y="2651891"/>
            <a:ext cx="4043473" cy="2804755"/>
          </a:xfrm>
          <a:prstGeom prst="rect">
            <a:avLst/>
          </a:prstGeom>
          <a:noFill/>
          <a:ln>
            <a:solidFill>
              <a:srgbClr val="A58255"/>
            </a:solidFill>
          </a:ln>
        </p:spPr>
        <p:txBody>
          <a:bodyPr wrap="square" lIns="91440" tIns="45720" rIns="91440" bIns="45720" rtlCol="0" anchor="t">
            <a:noAutofit/>
          </a:bodyPr>
          <a:lstStyle/>
          <a:p>
            <a:r>
              <a:rPr lang="en-US" b="1" dirty="0"/>
              <a:t>The project follows a research-based approach by selecting four relevant papers on AI and social media. Key information—such as objectives, datasets, methods, and findings—is extracted from each study and compared through a cross-analysis. This evaluation helps determine the overall impact ratio of social media and AI on youth and supports the development of balanced counseling strategies. The final outcomes are compiled into the project report and presentation.</a:t>
            </a:r>
          </a:p>
        </p:txBody>
      </p:sp>
      <p:sp>
        <p:nvSpPr>
          <p:cNvPr id="17" name="TextBox 16">
            <a:extLst>
              <a:ext uri="{FF2B5EF4-FFF2-40B4-BE49-F238E27FC236}">
                <a16:creationId xmlns:a16="http://schemas.microsoft.com/office/drawing/2014/main" id="{C96AE017-038F-C4E1-5D45-046E81A085D9}"/>
              </a:ext>
            </a:extLst>
          </p:cNvPr>
          <p:cNvSpPr txBox="1"/>
          <p:nvPr/>
        </p:nvSpPr>
        <p:spPr>
          <a:xfrm>
            <a:off x="5143525" y="6193722"/>
            <a:ext cx="4043473" cy="2564518"/>
          </a:xfrm>
          <a:prstGeom prst="rect">
            <a:avLst/>
          </a:prstGeom>
          <a:noFill/>
          <a:ln>
            <a:solidFill>
              <a:srgbClr val="A58255"/>
            </a:solidFill>
          </a:ln>
        </p:spPr>
        <p:txBody>
          <a:bodyPr wrap="square" lIns="91440" tIns="45720" rIns="91440" bIns="45720" rtlCol="0" anchor="t">
            <a:noAutofit/>
          </a:bodyPr>
          <a:lstStyle/>
          <a:p>
            <a:r>
              <a:rPr lang="en-US" b="1" dirty="0"/>
              <a:t>The project follows a research-based approach by selecting four relevant papers on AI and social media. Key information—such as objectives, datasets, methods, and findings—is extracted from each study and compared through a cross-analysis. This evaluation helps determine the overall impact ratio of social media and AI on youth and supports the development of balanced counseling strategies. The final outcomes are compiled into the project report and presentation.</a:t>
            </a:r>
          </a:p>
        </p:txBody>
      </p:sp>
      <p:sp>
        <p:nvSpPr>
          <p:cNvPr id="18" name="TextBox 17">
            <a:extLst>
              <a:ext uri="{FF2B5EF4-FFF2-40B4-BE49-F238E27FC236}">
                <a16:creationId xmlns:a16="http://schemas.microsoft.com/office/drawing/2014/main" id="{FF21BF73-FFA0-8430-60AD-60FADFDC878E}"/>
              </a:ext>
            </a:extLst>
          </p:cNvPr>
          <p:cNvSpPr txBox="1"/>
          <p:nvPr/>
        </p:nvSpPr>
        <p:spPr>
          <a:xfrm>
            <a:off x="5145288" y="9276486"/>
            <a:ext cx="4043473" cy="3083051"/>
          </a:xfrm>
          <a:prstGeom prst="rect">
            <a:avLst/>
          </a:prstGeom>
          <a:noFill/>
          <a:ln>
            <a:solidFill>
              <a:srgbClr val="A58255"/>
            </a:solidFill>
          </a:ln>
        </p:spPr>
        <p:txBody>
          <a:bodyPr wrap="square" lIns="91440" tIns="45720" rIns="91440" bIns="45720" rtlCol="0" anchor="t">
            <a:noAutofit/>
          </a:bodyPr>
          <a:lstStyle/>
          <a:p>
            <a:pPr marL="285750" indent="-285750">
              <a:buChar char="•"/>
            </a:pPr>
            <a:r>
              <a:rPr lang="en-US" b="1" dirty="0"/>
              <a:t>Cao, S., Bian, J., Ji, X., &amp; Zhang, Y. (2024).</a:t>
            </a:r>
            <a:r>
              <a:rPr lang="en-US" dirty="0"/>
              <a:t> </a:t>
            </a:r>
            <a:r>
              <a:rPr lang="en-US" i="1" dirty="0"/>
              <a:t>Machine Learning Approaches for Mental Illness Detection on Social Media.</a:t>
            </a:r>
            <a:r>
              <a:rPr lang="en-US" dirty="0"/>
              <a:t> arXiv:2410.16204.</a:t>
            </a:r>
          </a:p>
          <a:p>
            <a:pPr marL="285750" indent="-285750">
              <a:buChar char="•"/>
            </a:pPr>
            <a:r>
              <a:rPr lang="en-US" b="1" dirty="0"/>
              <a:t>Young, J., Liu, S., &amp; Byrne, R. (2024).</a:t>
            </a:r>
            <a:r>
              <a:rPr lang="en-US" dirty="0"/>
              <a:t> </a:t>
            </a:r>
            <a:r>
              <a:rPr lang="en-US" i="1" dirty="0"/>
              <a:t>The Role of AI in Peer Support for Young People.</a:t>
            </a:r>
            <a:r>
              <a:rPr lang="en-US" dirty="0"/>
              <a:t> arXiv:2405.02711.</a:t>
            </a:r>
          </a:p>
          <a:p>
            <a:pPr marL="285750" indent="-285750">
              <a:buChar char="•"/>
            </a:pPr>
            <a:r>
              <a:rPr lang="en-US" b="1" dirty="0"/>
              <a:t>Yu, L., Chen, B., &amp; Shuster, K. (2025).</a:t>
            </a:r>
            <a:r>
              <a:rPr lang="en-US" dirty="0"/>
              <a:t> </a:t>
            </a:r>
            <a:r>
              <a:rPr lang="en-US" i="1" dirty="0"/>
              <a:t>Understanding Generative AI Risks for Youth.</a:t>
            </a:r>
            <a:r>
              <a:rPr lang="en-US" dirty="0"/>
              <a:t> arXiv:2502.16383.</a:t>
            </a:r>
          </a:p>
          <a:p>
            <a:pPr marL="285750" indent="-285750">
              <a:buChar char="•"/>
            </a:pPr>
            <a:r>
              <a:rPr lang="en-US" b="1" dirty="0"/>
              <a:t>Arora, S., Krofta, M., &amp; </a:t>
            </a:r>
            <a:r>
              <a:rPr lang="en-US" b="1" dirty="0" err="1"/>
              <a:t>Jourová</a:t>
            </a:r>
            <a:r>
              <a:rPr lang="en-US" b="1" dirty="0"/>
              <a:t>, V. (2024).</a:t>
            </a:r>
            <a:r>
              <a:rPr lang="en-US" dirty="0"/>
              <a:t> </a:t>
            </a:r>
            <a:r>
              <a:rPr lang="en-US" i="1" dirty="0"/>
              <a:t>Psychological Impacts of Algorithmic Social Media on Teenagers.</a:t>
            </a:r>
            <a:r>
              <a:rPr lang="en-US" dirty="0"/>
              <a:t> Dakota State University. (PDF Provided)</a:t>
            </a:r>
          </a:p>
          <a:p>
            <a:endParaRPr lang="en-US" dirty="0"/>
          </a:p>
        </p:txBody>
      </p:sp>
      <p:sp>
        <p:nvSpPr>
          <p:cNvPr id="3" name="TextBox 2">
            <a:extLst>
              <a:ext uri="{FF2B5EF4-FFF2-40B4-BE49-F238E27FC236}">
                <a16:creationId xmlns:a16="http://schemas.microsoft.com/office/drawing/2014/main" id="{538E27FC-B078-6F5C-B985-17DD8781C106}"/>
              </a:ext>
            </a:extLst>
          </p:cNvPr>
          <p:cNvSpPr txBox="1"/>
          <p:nvPr/>
        </p:nvSpPr>
        <p:spPr>
          <a:xfrm>
            <a:off x="723250" y="10583193"/>
            <a:ext cx="4043473" cy="307777"/>
          </a:xfrm>
          <a:prstGeom prst="rect">
            <a:avLst/>
          </a:prstGeom>
          <a:solidFill>
            <a:srgbClr val="A58255"/>
          </a:solidFill>
        </p:spPr>
        <p:txBody>
          <a:bodyPr wrap="square">
            <a:spAutoFit/>
          </a:bodyPr>
          <a:lstStyle/>
          <a:p>
            <a:r>
              <a:rPr lang="en-US" b="1" dirty="0">
                <a:solidFill>
                  <a:schemeClr val="bg1"/>
                </a:solidFill>
                <a:latin typeface="Inter" panose="020B0604020202020204" charset="0"/>
              </a:rPr>
              <a:t>Project Objectives</a:t>
            </a:r>
            <a:endParaRPr lang="en-IN" dirty="0">
              <a:solidFill>
                <a:schemeClr val="bg1"/>
              </a:solidFill>
            </a:endParaRPr>
          </a:p>
        </p:txBody>
      </p:sp>
      <p:sp>
        <p:nvSpPr>
          <p:cNvPr id="12" name="TextBox 11">
            <a:extLst>
              <a:ext uri="{FF2B5EF4-FFF2-40B4-BE49-F238E27FC236}">
                <a16:creationId xmlns:a16="http://schemas.microsoft.com/office/drawing/2014/main" id="{F6CE9F3C-B86A-D2DF-31AF-AE87546F2123}"/>
              </a:ext>
            </a:extLst>
          </p:cNvPr>
          <p:cNvSpPr txBox="1"/>
          <p:nvPr/>
        </p:nvSpPr>
        <p:spPr>
          <a:xfrm>
            <a:off x="755359" y="10897176"/>
            <a:ext cx="4043473" cy="1446316"/>
          </a:xfrm>
          <a:prstGeom prst="rect">
            <a:avLst/>
          </a:prstGeom>
          <a:noFill/>
          <a:ln>
            <a:solidFill>
              <a:srgbClr val="A58255"/>
            </a:solidFill>
          </a:ln>
        </p:spPr>
        <p:txBody>
          <a:bodyPr wrap="square" lIns="91440" tIns="45720" rIns="91440" bIns="45720" rtlCol="0" anchor="t">
            <a:noAutofit/>
          </a:bodyPr>
          <a:lstStyle/>
          <a:p>
            <a:r>
              <a:rPr lang="en-US" b="1" dirty="0"/>
              <a:t>To analyze how AI and social media influence youth by comparing benefits, risks, and overall impact.</a:t>
            </a:r>
            <a:br>
              <a:rPr lang="en-US" b="1" dirty="0"/>
            </a:br>
            <a:r>
              <a:rPr lang="en-US" b="1" dirty="0"/>
              <a:t> To propose balanced counseling strategies that promote safe and healthy digital engagement for young people.</a:t>
            </a:r>
          </a:p>
        </p:txBody>
      </p:sp>
      <p:sp>
        <p:nvSpPr>
          <p:cNvPr id="19" name="TextBox 18">
            <a:extLst>
              <a:ext uri="{FF2B5EF4-FFF2-40B4-BE49-F238E27FC236}">
                <a16:creationId xmlns:a16="http://schemas.microsoft.com/office/drawing/2014/main" id="{255063AE-DC97-D787-4D8E-6FD611D54024}"/>
              </a:ext>
            </a:extLst>
          </p:cNvPr>
          <p:cNvSpPr txBox="1"/>
          <p:nvPr/>
        </p:nvSpPr>
        <p:spPr>
          <a:xfrm>
            <a:off x="3002280" y="1046850"/>
            <a:ext cx="654048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dirty="0">
                <a:latin typeface="Times New Roman" panose="02020603050405020304" pitchFamily="18" charset="0"/>
                <a:cs typeface="Times New Roman" panose="02020603050405020304" pitchFamily="18" charset="0"/>
              </a:rPr>
              <a:t>Ajit Kumar(VU22CSEN0101245)  - TL,   </a:t>
            </a:r>
            <a:r>
              <a:rPr lang="en-GB" sz="1600" b="1" dirty="0" err="1">
                <a:latin typeface="Times New Roman" panose="02020603050405020304" pitchFamily="18" charset="0"/>
                <a:cs typeface="Times New Roman" panose="02020603050405020304" pitchFamily="18" charset="0"/>
              </a:rPr>
              <a:t>Lowkik</a:t>
            </a:r>
            <a:r>
              <a:rPr lang="en-GB" sz="1600" b="1" dirty="0">
                <a:latin typeface="Times New Roman" panose="02020603050405020304" pitchFamily="18" charset="0"/>
                <a:cs typeface="Times New Roman" panose="02020603050405020304" pitchFamily="18" charset="0"/>
              </a:rPr>
              <a:t> Reddy(VU22CSEN0100289), Bhanu Teja(VU22CSEN0100662),   </a:t>
            </a:r>
            <a:r>
              <a:rPr lang="en-GB" sz="1600" b="1" dirty="0" err="1">
                <a:latin typeface="Times New Roman" panose="02020603050405020304" pitchFamily="18" charset="0"/>
                <a:cs typeface="Times New Roman" panose="02020603050405020304" pitchFamily="18" charset="0"/>
              </a:rPr>
              <a:t>Y.Venkatesh</a:t>
            </a:r>
            <a:r>
              <a:rPr lang="en-GB" sz="1600" b="1" dirty="0">
                <a:latin typeface="Times New Roman" panose="02020603050405020304" pitchFamily="18" charset="0"/>
                <a:cs typeface="Times New Roman" panose="02020603050405020304" pitchFamily="18" charset="0"/>
              </a:rPr>
              <a:t>(VU22CSEN0101120) </a:t>
            </a:r>
            <a:endParaRPr lang="en-GB" sz="1800" b="1" dirty="0">
              <a:latin typeface="Times New Roman" panose="02020603050405020304" pitchFamily="18" charset="0"/>
              <a:cs typeface="Times New Roman" panose="02020603050405020304" pitchFamily="18" charset="0"/>
            </a:endParaRPr>
          </a:p>
          <a:p>
            <a:r>
              <a:rPr lang="en-US" sz="1600" b="1" dirty="0"/>
              <a:t>                Dr. Yasoda Devi Gondi</a:t>
            </a:r>
          </a:p>
        </p:txBody>
      </p:sp>
    </p:spTree>
  </p:cSld>
  <p:clrMapOvr>
    <a:masterClrMapping/>
  </p:clrMapOvr>
</p:sld>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608</Words>
  <Application>Microsoft Office PowerPoint</Application>
  <PresentationFormat>A3 Paper (297x420 mm)</PresentationFormat>
  <Paragraphs>23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Inter</vt:lpstr>
      <vt:lpstr>Times New Roman</vt:lpstr>
      <vt:lpstr>Arial</vt:lpstr>
      <vt:lpstr>Plus Jakarta Sans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adarsh chhetri</cp:lastModifiedBy>
  <cp:revision>87</cp:revision>
  <dcterms:created xsi:type="dcterms:W3CDTF">2022-05-23T07:15:42Z</dcterms:created>
  <dcterms:modified xsi:type="dcterms:W3CDTF">2025-11-28T10:10:50Z</dcterms:modified>
</cp:coreProperties>
</file>