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 id="2147483660"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i5qMDrsGJlJb8S7ZSGxvwcfE+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0"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a8f1a271ed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a8f1a271ed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g3a8f1a271ed_0_1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8f1a271ed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8f1a271ed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a8f1a271ed_0_17: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a8f1a271ed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a8f1a271ed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3a8f1a271ed_0_24: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8f1a271ed_0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a8f1a271ed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g3a8f1a271ed_0_4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91d11d088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a91d11d088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g3a91d11d088_1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a91d11d088_1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a91d11d088_1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a91d11d088_1_8: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a91d11d088_1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a91d11d088_1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a91d11d088_1_18: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9200c369a_0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a9200c369a_0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g3a9200c369a_0_3: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a9200c369a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a9200c369a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g3a9200c369a_0_13: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9200c369a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a9200c369a_0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g3a9200c369a_0_21: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 name="Shape 21"/>
        <p:cNvGrpSpPr/>
        <p:nvPr/>
      </p:nvGrpSpPr>
      <p:grpSpPr>
        <a:xfrm>
          <a:off x="0" y="0"/>
          <a:ext cx="0" cy="0"/>
          <a:chOff x="0" y="0"/>
          <a:chExt cx="0" cy="0"/>
        </a:xfrm>
      </p:grpSpPr>
      <p:sp>
        <p:nvSpPr>
          <p:cNvPr id="22" name="Google Shape;22;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7" name="Shape 27"/>
        <p:cNvGrpSpPr/>
        <p:nvPr/>
      </p:nvGrpSpPr>
      <p:grpSpPr>
        <a:xfrm>
          <a:off x="0" y="0"/>
          <a:ext cx="0" cy="0"/>
          <a:chOff x="0" y="0"/>
          <a:chExt cx="0" cy="0"/>
        </a:xfrm>
      </p:grpSpPr>
      <p:sp>
        <p:nvSpPr>
          <p:cNvPr id="28" name="Google Shape;28;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33"/>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34"/>
          <p:cNvSpPr/>
          <p:nvPr>
            <p:ph idx="2" type="pic"/>
          </p:nvPr>
        </p:nvSpPr>
        <p:spPr>
          <a:xfrm>
            <a:off x="1792288" y="612775"/>
            <a:ext cx="5486400" cy="4114800"/>
          </a:xfrm>
          <a:prstGeom prst="rect">
            <a:avLst/>
          </a:prstGeom>
          <a:noFill/>
          <a:ln>
            <a:noFill/>
          </a:ln>
        </p:spPr>
      </p:sp>
      <p:sp>
        <p:nvSpPr>
          <p:cNvPr id="36" name="Google Shape;36;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3" name="Google Shape;43;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4" name="Google Shape;44;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 name="Google Shape;53;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3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9" name="Google Shape;59;p3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0" name="Google Shape;60;p3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3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3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8" name="Google Shape;68;p3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9" name="Google Shape;69;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8" name="Shape 78"/>
        <p:cNvGrpSpPr/>
        <p:nvPr/>
      </p:nvGrpSpPr>
      <p:grpSpPr>
        <a:xfrm>
          <a:off x="0" y="0"/>
          <a:ext cx="0" cy="0"/>
          <a:chOff x="0" y="0"/>
          <a:chExt cx="0" cy="0"/>
        </a:xfrm>
      </p:grpSpPr>
      <p:sp>
        <p:nvSpPr>
          <p:cNvPr id="79" name="Google Shape;79;p4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4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81" name="Google Shape;8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2" name="Google Shape;92;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4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4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2" name="Shape 102"/>
        <p:cNvGrpSpPr/>
        <p:nvPr/>
      </p:nvGrpSpPr>
      <p:grpSpPr>
        <a:xfrm>
          <a:off x="0" y="0"/>
          <a:ext cx="0" cy="0"/>
          <a:chOff x="0" y="0"/>
          <a:chExt cx="0" cy="0"/>
        </a:xfrm>
      </p:grpSpPr>
      <p:sp>
        <p:nvSpPr>
          <p:cNvPr id="103" name="Google Shape;103;p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4" name="Google Shape;104;p43"/>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5" name="Google Shape;105;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8" name="Shape 108"/>
        <p:cNvGrpSpPr/>
        <p:nvPr/>
      </p:nvGrpSpPr>
      <p:grpSpPr>
        <a:xfrm>
          <a:off x="0" y="0"/>
          <a:ext cx="0" cy="0"/>
          <a:chOff x="0" y="0"/>
          <a:chExt cx="0" cy="0"/>
        </a:xfrm>
      </p:grpSpPr>
      <p:sp>
        <p:nvSpPr>
          <p:cNvPr id="109" name="Google Shape;109;p4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0" name="Google Shape;110;p44"/>
          <p:cNvSpPr/>
          <p:nvPr>
            <p:ph idx="2" type="pic"/>
          </p:nvPr>
        </p:nvSpPr>
        <p:spPr>
          <a:xfrm>
            <a:off x="1792288" y="612775"/>
            <a:ext cx="5486400" cy="4114800"/>
          </a:xfrm>
          <a:prstGeom prst="rect">
            <a:avLst/>
          </a:prstGeom>
          <a:noFill/>
          <a:ln>
            <a:noFill/>
          </a:ln>
        </p:spPr>
      </p:sp>
      <p:sp>
        <p:nvSpPr>
          <p:cNvPr id="111" name="Google Shape;111;p4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2" name="Google Shape;112;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5" name="Shape 115"/>
        <p:cNvGrpSpPr/>
        <p:nvPr/>
      </p:nvGrpSpPr>
      <p:grpSpPr>
        <a:xfrm>
          <a:off x="0" y="0"/>
          <a:ext cx="0" cy="0"/>
          <a:chOff x="0" y="0"/>
          <a:chExt cx="0" cy="0"/>
        </a:xfrm>
      </p:grpSpPr>
      <p:sp>
        <p:nvSpPr>
          <p:cNvPr id="116" name="Google Shape;116;p4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7" name="Google Shape;117;p4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18" name="Google Shape;118;p4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9" name="Google Shape;119;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 name="Shape 126"/>
        <p:cNvGrpSpPr/>
        <p:nvPr/>
      </p:nvGrpSpPr>
      <p:grpSpPr>
        <a:xfrm>
          <a:off x="0" y="0"/>
          <a:ext cx="0" cy="0"/>
          <a:chOff x="0" y="0"/>
          <a:chExt cx="0" cy="0"/>
        </a:xfrm>
      </p:grpSpPr>
      <p:sp>
        <p:nvSpPr>
          <p:cNvPr id="127" name="Google Shape;127;p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8" name="Google Shape;12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1" name="Shape 131"/>
        <p:cNvGrpSpPr/>
        <p:nvPr/>
      </p:nvGrpSpPr>
      <p:grpSpPr>
        <a:xfrm>
          <a:off x="0" y="0"/>
          <a:ext cx="0" cy="0"/>
          <a:chOff x="0" y="0"/>
          <a:chExt cx="0" cy="0"/>
        </a:xfrm>
      </p:grpSpPr>
      <p:sp>
        <p:nvSpPr>
          <p:cNvPr id="132" name="Google Shape;132;p4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3" name="Google Shape;133;p4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34" name="Google Shape;134;p4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35" name="Google Shape;135;p4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36" name="Google Shape;136;p4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37" name="Google Shape;137;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0" name="Shape 140"/>
        <p:cNvGrpSpPr/>
        <p:nvPr/>
      </p:nvGrpSpPr>
      <p:grpSpPr>
        <a:xfrm>
          <a:off x="0" y="0"/>
          <a:ext cx="0" cy="0"/>
          <a:chOff x="0" y="0"/>
          <a:chExt cx="0" cy="0"/>
        </a:xfrm>
      </p:grpSpPr>
      <p:sp>
        <p:nvSpPr>
          <p:cNvPr id="141" name="Google Shape;141;p4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2" name="Google Shape;142;p4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43" name="Google Shape;143;p4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44" name="Google Shape;144;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7" name="Shape 147"/>
        <p:cNvGrpSpPr/>
        <p:nvPr/>
      </p:nvGrpSpPr>
      <p:grpSpPr>
        <a:xfrm>
          <a:off x="0" y="0"/>
          <a:ext cx="0" cy="0"/>
          <a:chOff x="0" y="0"/>
          <a:chExt cx="0" cy="0"/>
        </a:xfrm>
      </p:grpSpPr>
      <p:sp>
        <p:nvSpPr>
          <p:cNvPr id="148" name="Google Shape;148;p5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5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50" name="Google Shape;150;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3" name="Shape 153"/>
        <p:cNvGrpSpPr/>
        <p:nvPr/>
      </p:nvGrpSpPr>
      <p:grpSpPr>
        <a:xfrm>
          <a:off x="0" y="0"/>
          <a:ext cx="0" cy="0"/>
          <a:chOff x="0" y="0"/>
          <a:chExt cx="0" cy="0"/>
        </a:xfrm>
      </p:grpSpPr>
      <p:sp>
        <p:nvSpPr>
          <p:cNvPr id="154" name="Google Shape;154;p5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5" name="Google Shape;155;p5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56" name="Google Shape;156;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5" name="Shape 165"/>
        <p:cNvGrpSpPr/>
        <p:nvPr/>
      </p:nvGrpSpPr>
      <p:grpSpPr>
        <a:xfrm>
          <a:off x="0" y="0"/>
          <a:ext cx="0" cy="0"/>
          <a:chOff x="0" y="0"/>
          <a:chExt cx="0" cy="0"/>
        </a:xfrm>
      </p:grpSpPr>
      <p:sp>
        <p:nvSpPr>
          <p:cNvPr id="166" name="Google Shape;166;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7" name="Google Shape;167;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8" name="Google Shape;16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1" name="Shape 171"/>
        <p:cNvGrpSpPr/>
        <p:nvPr/>
      </p:nvGrpSpPr>
      <p:grpSpPr>
        <a:xfrm>
          <a:off x="0" y="0"/>
          <a:ext cx="0" cy="0"/>
          <a:chOff x="0" y="0"/>
          <a:chExt cx="0" cy="0"/>
        </a:xfrm>
      </p:grpSpPr>
      <p:sp>
        <p:nvSpPr>
          <p:cNvPr id="172" name="Google Shape;172;p2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3" name="Google Shape;173;p2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74" name="Google Shape;17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7" name="Shape 177"/>
        <p:cNvGrpSpPr/>
        <p:nvPr/>
      </p:nvGrpSpPr>
      <p:grpSpPr>
        <a:xfrm>
          <a:off x="0" y="0"/>
          <a:ext cx="0" cy="0"/>
          <a:chOff x="0" y="0"/>
          <a:chExt cx="0" cy="0"/>
        </a:xfrm>
      </p:grpSpPr>
      <p:sp>
        <p:nvSpPr>
          <p:cNvPr id="178" name="Google Shape;178;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9" name="Google Shape;179;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0" name="Google Shape;18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3" name="Shape 183"/>
        <p:cNvGrpSpPr/>
        <p:nvPr/>
      </p:nvGrpSpPr>
      <p:grpSpPr>
        <a:xfrm>
          <a:off x="0" y="0"/>
          <a:ext cx="0" cy="0"/>
          <a:chOff x="0" y="0"/>
          <a:chExt cx="0" cy="0"/>
        </a:xfrm>
      </p:grpSpPr>
      <p:sp>
        <p:nvSpPr>
          <p:cNvPr id="184" name="Google Shape;184;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5" name="Google Shape;185;p24"/>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6" name="Google Shape;18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9" name="Shape 189"/>
        <p:cNvGrpSpPr/>
        <p:nvPr/>
      </p:nvGrpSpPr>
      <p:grpSpPr>
        <a:xfrm>
          <a:off x="0" y="0"/>
          <a:ext cx="0" cy="0"/>
          <a:chOff x="0" y="0"/>
          <a:chExt cx="0" cy="0"/>
        </a:xfrm>
      </p:grpSpPr>
      <p:sp>
        <p:nvSpPr>
          <p:cNvPr id="190" name="Google Shape;190;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1" name="Google Shape;191;p25"/>
          <p:cNvSpPr/>
          <p:nvPr>
            <p:ph idx="2" type="pic"/>
          </p:nvPr>
        </p:nvSpPr>
        <p:spPr>
          <a:xfrm>
            <a:off x="1792288" y="612775"/>
            <a:ext cx="5486400" cy="4114800"/>
          </a:xfrm>
          <a:prstGeom prst="rect">
            <a:avLst/>
          </a:prstGeom>
          <a:noFill/>
          <a:ln>
            <a:noFill/>
          </a:ln>
        </p:spPr>
      </p:sp>
      <p:sp>
        <p:nvSpPr>
          <p:cNvPr id="192" name="Google Shape;192;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93" name="Google Shape;193;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6" name="Shape 196"/>
        <p:cNvGrpSpPr/>
        <p:nvPr/>
      </p:nvGrpSpPr>
      <p:grpSpPr>
        <a:xfrm>
          <a:off x="0" y="0"/>
          <a:ext cx="0" cy="0"/>
          <a:chOff x="0" y="0"/>
          <a:chExt cx="0" cy="0"/>
        </a:xfrm>
      </p:grpSpPr>
      <p:sp>
        <p:nvSpPr>
          <p:cNvPr id="197" name="Google Shape;197;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8" name="Google Shape;198;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99" name="Google Shape;199;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00" name="Google Shape;20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3" name="Shape 203"/>
        <p:cNvGrpSpPr/>
        <p:nvPr/>
      </p:nvGrpSpPr>
      <p:grpSpPr>
        <a:xfrm>
          <a:off x="0" y="0"/>
          <a:ext cx="0" cy="0"/>
          <a:chOff x="0" y="0"/>
          <a:chExt cx="0" cy="0"/>
        </a:xfrm>
      </p:grpSpPr>
      <p:sp>
        <p:nvSpPr>
          <p:cNvPr id="204" name="Google Shape;20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7" name="Shape 207"/>
        <p:cNvGrpSpPr/>
        <p:nvPr/>
      </p:nvGrpSpPr>
      <p:grpSpPr>
        <a:xfrm>
          <a:off x="0" y="0"/>
          <a:ext cx="0" cy="0"/>
          <a:chOff x="0" y="0"/>
          <a:chExt cx="0" cy="0"/>
        </a:xfrm>
      </p:grpSpPr>
      <p:sp>
        <p:nvSpPr>
          <p:cNvPr id="208" name="Google Shape;208;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9" name="Google Shape;209;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2" name="Shape 212"/>
        <p:cNvGrpSpPr/>
        <p:nvPr/>
      </p:nvGrpSpPr>
      <p:grpSpPr>
        <a:xfrm>
          <a:off x="0" y="0"/>
          <a:ext cx="0" cy="0"/>
          <a:chOff x="0" y="0"/>
          <a:chExt cx="0" cy="0"/>
        </a:xfrm>
      </p:grpSpPr>
      <p:sp>
        <p:nvSpPr>
          <p:cNvPr id="213" name="Google Shape;213;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4" name="Google Shape;214;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15" name="Google Shape;215;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16" name="Google Shape;216;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17" name="Google Shape;217;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18" name="Google Shape;2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1" name="Shape 221"/>
        <p:cNvGrpSpPr/>
        <p:nvPr/>
      </p:nvGrpSpPr>
      <p:grpSpPr>
        <a:xfrm>
          <a:off x="0" y="0"/>
          <a:ext cx="0" cy="0"/>
          <a:chOff x="0" y="0"/>
          <a:chExt cx="0" cy="0"/>
        </a:xfrm>
      </p:grpSpPr>
      <p:sp>
        <p:nvSpPr>
          <p:cNvPr id="222" name="Google Shape;222;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3" name="Google Shape;223;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24" name="Google Shape;224;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25" name="Google Shape;22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8" name="Shape 228"/>
        <p:cNvGrpSpPr/>
        <p:nvPr/>
      </p:nvGrpSpPr>
      <p:grpSpPr>
        <a:xfrm>
          <a:off x="0" y="0"/>
          <a:ext cx="0" cy="0"/>
          <a:chOff x="0" y="0"/>
          <a:chExt cx="0" cy="0"/>
        </a:xfrm>
      </p:grpSpPr>
      <p:sp>
        <p:nvSpPr>
          <p:cNvPr id="229" name="Google Shape;229;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0" name="Google Shape;230;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31" name="Google Shape;23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2" name="Google Shape;23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86" name="Google Shape;86;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61" name="Google Shape;161;p2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2" name="Google Shape;16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3" name="Google Shape;16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4" name="Google Shape;16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hyperlink" Target="https://docs.google.com/forms/d/e/1FAIpQLSfHu39hXzk8zeFuVBeeQTm8wLO3OFfhG2wSBlVLyQHeE4GC8A/viewform?usp=send_for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hyperlink" Target="https://arxiv.org/abs/2410.16204?utm_source=chatgpt.com" TargetMode="External"/><Relationship Id="rId4" Type="http://schemas.openxmlformats.org/officeDocument/2006/relationships/hyperlink" Target="https://arxiv.org/abs/2410.16204?utm_source=chatgpt.com" TargetMode="External"/><Relationship Id="rId11" Type="http://schemas.openxmlformats.org/officeDocument/2006/relationships/hyperlink" Target="https://arxiv.org/abs/2502.16383?utm_source=chatgpt.com" TargetMode="External"/><Relationship Id="rId10" Type="http://schemas.openxmlformats.org/officeDocument/2006/relationships/hyperlink" Target="https://arxiv.org/abs/2502.16383?utm_source=chatgpt.com" TargetMode="External"/><Relationship Id="rId12" Type="http://schemas.openxmlformats.org/officeDocument/2006/relationships/image" Target="../media/image1.jpg"/><Relationship Id="rId9" Type="http://schemas.openxmlformats.org/officeDocument/2006/relationships/hyperlink" Target="https://arxiv.org/abs/2502.16383?utm_source=chatgpt.com" TargetMode="External"/><Relationship Id="rId5" Type="http://schemas.openxmlformats.org/officeDocument/2006/relationships/hyperlink" Target="https://arxiv.org/abs/2410.16204?utm_source=chatgpt.com" TargetMode="External"/><Relationship Id="rId6" Type="http://schemas.openxmlformats.org/officeDocument/2006/relationships/hyperlink" Target="https://arxiv.org/abs/2405.02711?utm_source=chatgpt.com" TargetMode="External"/><Relationship Id="rId7" Type="http://schemas.openxmlformats.org/officeDocument/2006/relationships/hyperlink" Target="https://arxiv.org/abs/2405.02711?utm_source=chatgpt.com" TargetMode="External"/><Relationship Id="rId8" Type="http://schemas.openxmlformats.org/officeDocument/2006/relationships/hyperlink" Target="https://arxiv.org/abs/2405.02711?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title"/>
          </p:nvPr>
        </p:nvSpPr>
        <p:spPr>
          <a:xfrm>
            <a:off x="239712" y="747712"/>
            <a:ext cx="8580437" cy="14573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Capstone Project – I:  Review – 2 on</a:t>
            </a:r>
            <a:br>
              <a:rPr b="1" i="0" lang="en-US" sz="3200" u="none">
                <a:solidFill>
                  <a:schemeClr val="dk1"/>
                </a:solidFill>
                <a:latin typeface="Times New Roman"/>
                <a:ea typeface="Times New Roman"/>
                <a:cs typeface="Times New Roman"/>
                <a:sym typeface="Times New Roman"/>
              </a:rPr>
            </a:br>
            <a:r>
              <a:rPr b="1" lang="en-US" sz="3200">
                <a:latin typeface="Times New Roman"/>
                <a:ea typeface="Times New Roman"/>
                <a:cs typeface="Times New Roman"/>
                <a:sym typeface="Times New Roman"/>
              </a:rPr>
              <a:t>Impact Ratio of Social Media/Al on the Youth</a:t>
            </a:r>
            <a:endParaRPr/>
          </a:p>
        </p:txBody>
      </p:sp>
      <p:sp>
        <p:nvSpPr>
          <p:cNvPr id="239" name="Google Shape;239;p1"/>
          <p:cNvSpPr txBox="1"/>
          <p:nvPr>
            <p:ph idx="1" type="body"/>
          </p:nvPr>
        </p:nvSpPr>
        <p:spPr>
          <a:xfrm>
            <a:off x="2411412" y="4508500"/>
            <a:ext cx="4105275" cy="1222375"/>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70C0"/>
              </a:buClr>
              <a:buSzPts val="2000"/>
              <a:buFont typeface="Arial"/>
              <a:buNone/>
            </a:pPr>
            <a:r>
              <a:rPr b="1" i="0" lang="en-US" sz="2000" u="none" cap="none" strike="noStrike">
                <a:solidFill>
                  <a:srgbClr val="0070C0"/>
                </a:solidFill>
                <a:latin typeface="Times New Roman"/>
                <a:ea typeface="Times New Roman"/>
                <a:cs typeface="Times New Roman"/>
                <a:sym typeface="Times New Roman"/>
              </a:rPr>
              <a:t>Under the Guidance of</a:t>
            </a:r>
            <a:endParaRPr/>
          </a:p>
          <a:p>
            <a:pPr indent="0" lvl="0" marL="0" marR="0" rtl="0" algn="ctr">
              <a:lnSpc>
                <a:spcPct val="100000"/>
              </a:lnSpc>
              <a:spcBef>
                <a:spcPts val="400"/>
              </a:spcBef>
              <a:spcAft>
                <a:spcPts val="0"/>
              </a:spcAft>
              <a:buClr>
                <a:schemeClr val="dk1"/>
              </a:buClr>
              <a:buSzPts val="2000"/>
              <a:buFont typeface="Arial"/>
              <a:buNone/>
            </a:pPr>
            <a:r>
              <a:rPr lang="en-US" sz="2600"/>
              <a:t>Dr. Yasoda Devi Gondi</a:t>
            </a:r>
            <a:endParaRPr sz="2600"/>
          </a:p>
          <a:p>
            <a:pPr indent="0" lvl="0" marL="0" marR="0" rtl="0" algn="ctr">
              <a:lnSpc>
                <a:spcPct val="100000"/>
              </a:lnSpc>
              <a:spcBef>
                <a:spcPts val="400"/>
              </a:spcBef>
              <a:spcAft>
                <a:spcPts val="0"/>
              </a:spcAft>
              <a:buClr>
                <a:srgbClr val="0D0D0D"/>
              </a:buClr>
              <a:buSzPts val="2000"/>
              <a:buFont typeface="Arial"/>
              <a:buNone/>
            </a:pPr>
            <a:r>
              <a:rPr lang="en-US" sz="2100"/>
              <a:t>Assistant Professor</a:t>
            </a:r>
            <a:endParaRPr sz="2100"/>
          </a:p>
        </p:txBody>
      </p:sp>
      <p:sp>
        <p:nvSpPr>
          <p:cNvPr id="240" name="Google Shape;240;p1"/>
          <p:cNvSpPr txBox="1"/>
          <p:nvPr/>
        </p:nvSpPr>
        <p:spPr>
          <a:xfrm>
            <a:off x="84137" y="2420937"/>
            <a:ext cx="8375700" cy="1662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2000"/>
              <a:buFont typeface="Times New Roman"/>
              <a:buNone/>
            </a:pPr>
            <a:r>
              <a:rPr b="1" lang="en-US" sz="2000">
                <a:solidFill>
                  <a:srgbClr val="C00000"/>
                </a:solidFill>
                <a:latin typeface="Times New Roman"/>
                <a:ea typeface="Times New Roman"/>
                <a:cs typeface="Times New Roman"/>
                <a:sym typeface="Times New Roman"/>
              </a:rPr>
              <a:t>    </a:t>
            </a:r>
            <a:r>
              <a:rPr b="1" i="0" lang="en-US" sz="2000" u="none" cap="none" strike="noStrike">
                <a:solidFill>
                  <a:srgbClr val="C00000"/>
                </a:solidFill>
                <a:latin typeface="Times New Roman"/>
                <a:ea typeface="Times New Roman"/>
                <a:cs typeface="Times New Roman"/>
                <a:sym typeface="Times New Roman"/>
              </a:rPr>
              <a:t>Presented by the Batch No. : </a:t>
            </a:r>
            <a:r>
              <a:rPr b="1" lang="en-US" sz="2000">
                <a:solidFill>
                  <a:srgbClr val="C00000"/>
                </a:solidFill>
                <a:latin typeface="Times New Roman"/>
                <a:ea typeface="Times New Roman"/>
                <a:cs typeface="Times New Roman"/>
                <a:sym typeface="Times New Roman"/>
              </a:rPr>
              <a:t>8</a:t>
            </a:r>
            <a:endParaRPr/>
          </a:p>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Ajit Kumar</a:t>
            </a:r>
            <a:r>
              <a:rPr b="1" i="0" lang="en-US" sz="1800" u="none" cap="none" strike="noStrike">
                <a:solidFill>
                  <a:srgbClr val="000000"/>
                </a:solidFill>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VU22CSEN0101245</a:t>
            </a:r>
            <a:r>
              <a:rPr b="1" i="0" lang="en-US" sz="1800" u="none" cap="none" strike="noStrike">
                <a:solidFill>
                  <a:srgbClr val="000000"/>
                </a:solidFill>
                <a:latin typeface="Times New Roman"/>
                <a:ea typeface="Times New Roman"/>
                <a:cs typeface="Times New Roman"/>
                <a:sym typeface="Times New Roman"/>
              </a:rPr>
              <a:t> (TL)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                                            N.</a:t>
            </a:r>
            <a:r>
              <a:rPr b="1" lang="en-US" sz="1800">
                <a:latin typeface="Times New Roman"/>
                <a:ea typeface="Times New Roman"/>
                <a:cs typeface="Times New Roman"/>
                <a:sym typeface="Times New Roman"/>
              </a:rPr>
              <a:t>Lowkik Reddy</a:t>
            </a:r>
            <a:r>
              <a:rPr b="1" i="0" lang="en-US" sz="1800" u="none" cap="none" strike="noStrike">
                <a:solidFill>
                  <a:srgbClr val="000000"/>
                </a:solidFill>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VU22CSEN0100289</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Bhanu Teja</a:t>
            </a:r>
            <a:r>
              <a:rPr b="1" i="0" lang="en-US" sz="1800" u="none" cap="none" strike="noStrike">
                <a:solidFill>
                  <a:srgbClr val="000000"/>
                </a:solidFill>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VU22CSEN0100662</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Yarlagadda Venkatesh</a:t>
            </a:r>
            <a:r>
              <a:rPr b="1" i="0" lang="en-US" sz="1800" u="none" cap="none" strike="noStrike">
                <a:solidFill>
                  <a:srgbClr val="000000"/>
                </a:solidFill>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 VU22CSEN0101120</a:t>
            </a:r>
            <a:endParaRPr/>
          </a:p>
        </p:txBody>
      </p:sp>
      <p:sp>
        <p:nvSpPr>
          <p:cNvPr id="241" name="Google Shape;241;p1"/>
          <p:cNvSpPr txBox="1"/>
          <p:nvPr/>
        </p:nvSpPr>
        <p:spPr>
          <a:xfrm>
            <a:off x="539750" y="5732462"/>
            <a:ext cx="8280400" cy="101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imes New Roman"/>
              <a:buNone/>
            </a:pPr>
            <a:r>
              <a:rPr b="1" i="0" lang="en-US" sz="2000" u="none" cap="none" strike="noStrike">
                <a:solidFill>
                  <a:srgbClr val="000099"/>
                </a:solidFill>
                <a:latin typeface="Times New Roman"/>
                <a:ea typeface="Times New Roman"/>
                <a:cs typeface="Times New Roman"/>
                <a:sym typeface="Times New Roman"/>
              </a:rPr>
              <a:t>Department of Computer Science and Engineering</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GITAM School of CSE, GITAM (Deemed to be University),</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Visakhapatnam.</a:t>
            </a:r>
            <a:endParaRPr/>
          </a:p>
        </p:txBody>
      </p:sp>
      <p:pic>
        <p:nvPicPr>
          <p:cNvPr id="242" name="Google Shape;242;p1"/>
          <p:cNvPicPr preferRelativeResize="0"/>
          <p:nvPr/>
        </p:nvPicPr>
        <p:blipFill rotWithShape="1">
          <a:blip r:embed="rId3">
            <a:alphaModFix/>
          </a:blip>
          <a:srcRect b="0" l="0" r="0" t="0"/>
          <a:stretch/>
        </p:blipFill>
        <p:spPr>
          <a:xfrm>
            <a:off x="7172325" y="127000"/>
            <a:ext cx="1971675" cy="809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
          <p:cNvSpPr txBox="1"/>
          <p:nvPr>
            <p:ph type="title"/>
          </p:nvPr>
        </p:nvSpPr>
        <p:spPr>
          <a:xfrm>
            <a:off x="250825" y="263525"/>
            <a:ext cx="5278437" cy="885825"/>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rgbClr val="0070C0"/>
              </a:buClr>
              <a:buSzPts val="2800"/>
              <a:buFont typeface="Times New Roman"/>
              <a:buNone/>
            </a:pPr>
            <a:r>
              <a:rPr b="1" i="0" lang="en-US" sz="2800" u="none">
                <a:solidFill>
                  <a:srgbClr val="0070C0"/>
                </a:solidFill>
                <a:latin typeface="Times New Roman"/>
                <a:ea typeface="Times New Roman"/>
                <a:cs typeface="Times New Roman"/>
                <a:sym typeface="Times New Roman"/>
              </a:rPr>
              <a:t>CONTENTS</a:t>
            </a:r>
            <a:endParaRPr/>
          </a:p>
        </p:txBody>
      </p:sp>
      <p:sp>
        <p:nvSpPr>
          <p:cNvPr id="248" name="Google Shape;248;p2"/>
          <p:cNvSpPr txBox="1"/>
          <p:nvPr>
            <p:ph idx="1" type="body"/>
          </p:nvPr>
        </p:nvSpPr>
        <p:spPr>
          <a:xfrm>
            <a:off x="606425" y="1141412"/>
            <a:ext cx="7931150" cy="4459287"/>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chemeClr val="dk1"/>
              </a:buClr>
              <a:buSzPts val="2000"/>
              <a:buFont typeface="Calibri"/>
              <a:buAutoNum type="arabicPeriod"/>
            </a:pPr>
            <a:r>
              <a:rPr b="1" i="0" lang="en-US" sz="2000" u="none" cap="none" strike="noStrike">
                <a:solidFill>
                  <a:schemeClr val="dk1"/>
                </a:solidFill>
                <a:latin typeface="Times New Roman"/>
                <a:ea typeface="Times New Roman"/>
                <a:cs typeface="Times New Roman"/>
                <a:sym typeface="Times New Roman"/>
              </a:rPr>
              <a:t>Recap of Capstone Project Introduction Review-1</a:t>
            </a:r>
            <a:endParaRPr b="0" i="0" sz="2000" u="none" cap="none" strike="noStrike">
              <a:solidFill>
                <a:schemeClr val="dk1"/>
              </a:solidFill>
              <a:latin typeface="Times New Roman"/>
              <a:ea typeface="Times New Roman"/>
              <a:cs typeface="Times New Roman"/>
              <a:sym typeface="Times New Roman"/>
            </a:endParaRPr>
          </a:p>
          <a:p>
            <a:pPr indent="-457200" lvl="1" marL="914400" marR="0" rtl="0" algn="just">
              <a:lnSpc>
                <a:spcPct val="150000"/>
              </a:lnSpc>
              <a:spcBef>
                <a:spcPts val="40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Problem Statement</a:t>
            </a:r>
            <a:endParaRPr/>
          </a:p>
          <a:p>
            <a:pPr indent="-457200" lvl="1" marL="914400" marR="0" rtl="0" algn="just">
              <a:lnSpc>
                <a:spcPct val="150000"/>
              </a:lnSpc>
              <a:spcBef>
                <a:spcPts val="40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Objectives</a:t>
            </a:r>
            <a:endParaRPr/>
          </a:p>
          <a:p>
            <a:pPr indent="-457200" lvl="1" marL="914400" marR="0" rtl="0" algn="just">
              <a:lnSpc>
                <a:spcPct val="150000"/>
              </a:lnSpc>
              <a:spcBef>
                <a:spcPts val="40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Feedback from Guide/Reviewers and actions taken after Review–1</a:t>
            </a:r>
            <a:endParaRPr/>
          </a:p>
          <a:p>
            <a:pPr indent="-457200" lvl="0" marL="457200" marR="0" rtl="0" algn="just">
              <a:lnSpc>
                <a:spcPct val="150000"/>
              </a:lnSpc>
              <a:spcBef>
                <a:spcPts val="400"/>
              </a:spcBef>
              <a:spcAft>
                <a:spcPts val="0"/>
              </a:spcAft>
              <a:buClr>
                <a:srgbClr val="92D050"/>
              </a:buClr>
              <a:buSzPts val="2000"/>
              <a:buFont typeface="Calibri"/>
              <a:buAutoNum type="arabicPeriod"/>
            </a:pPr>
            <a:r>
              <a:rPr b="0" i="0" lang="en-US" sz="2000" u="none" cap="none" strike="noStrike">
                <a:solidFill>
                  <a:srgbClr val="92D050"/>
                </a:solidFill>
                <a:latin typeface="Times New Roman"/>
                <a:ea typeface="Times New Roman"/>
                <a:cs typeface="Times New Roman"/>
                <a:sym typeface="Times New Roman"/>
              </a:rPr>
              <a:t>Requirement Analysis</a:t>
            </a:r>
            <a:endParaRPr/>
          </a:p>
          <a:p>
            <a:pPr indent="-457200" lvl="0" marL="457200" marR="0" rtl="0" algn="just">
              <a:lnSpc>
                <a:spcPct val="150000"/>
              </a:lnSpc>
              <a:spcBef>
                <a:spcPts val="400"/>
              </a:spcBef>
              <a:spcAft>
                <a:spcPts val="0"/>
              </a:spcAft>
              <a:buClr>
                <a:srgbClr val="92D050"/>
              </a:buClr>
              <a:buSzPts val="2000"/>
              <a:buFont typeface="Calibri"/>
              <a:buAutoNum type="arabicPeriod"/>
            </a:pPr>
            <a:r>
              <a:rPr b="0" i="0" lang="en-US" sz="2000" u="none" cap="none" strike="noStrike">
                <a:solidFill>
                  <a:srgbClr val="92D050"/>
                </a:solidFill>
                <a:latin typeface="Times New Roman"/>
                <a:ea typeface="Times New Roman"/>
                <a:cs typeface="Times New Roman"/>
                <a:sym typeface="Times New Roman"/>
              </a:rPr>
              <a:t>Identification of tools/technology/algorithms</a:t>
            </a:r>
            <a:endParaRPr/>
          </a:p>
          <a:p>
            <a:pPr indent="-457200" lvl="0" marL="457200" marR="0" rtl="0" algn="just">
              <a:lnSpc>
                <a:spcPct val="150000"/>
              </a:lnSpc>
              <a:spcBef>
                <a:spcPts val="400"/>
              </a:spcBef>
              <a:spcAft>
                <a:spcPts val="0"/>
              </a:spcAft>
              <a:buClr>
                <a:srgbClr val="92D050"/>
              </a:buClr>
              <a:buSzPts val="2000"/>
              <a:buFont typeface="Calibri"/>
              <a:buAutoNum type="arabicPeriod"/>
            </a:pPr>
            <a:r>
              <a:rPr b="0" i="0" lang="en-US" sz="2000" u="none" cap="none" strike="noStrike">
                <a:solidFill>
                  <a:srgbClr val="92D050"/>
                </a:solidFill>
                <a:latin typeface="Times New Roman"/>
                <a:ea typeface="Times New Roman"/>
                <a:cs typeface="Times New Roman"/>
                <a:sym typeface="Times New Roman"/>
              </a:rPr>
              <a:t>Design Strategy (project workflow/ system design/ DFD/UML design)</a:t>
            </a:r>
            <a:endParaRPr/>
          </a:p>
          <a:p>
            <a:pPr indent="-457200" lvl="0" marL="457200" marR="0" rtl="0" algn="just">
              <a:lnSpc>
                <a:spcPct val="150000"/>
              </a:lnSpc>
              <a:spcBef>
                <a:spcPts val="400"/>
              </a:spcBef>
              <a:spcAft>
                <a:spcPts val="0"/>
              </a:spcAft>
              <a:buClr>
                <a:srgbClr val="92D050"/>
              </a:buClr>
              <a:buSzPts val="2000"/>
              <a:buFont typeface="Calibri"/>
              <a:buAutoNum type="arabicPeriod"/>
            </a:pPr>
            <a:r>
              <a:rPr b="0" i="0" lang="en-US" sz="2000" u="none" cap="none" strike="noStrike">
                <a:solidFill>
                  <a:srgbClr val="92D050"/>
                </a:solidFill>
                <a:latin typeface="Times New Roman"/>
                <a:ea typeface="Times New Roman"/>
                <a:cs typeface="Times New Roman"/>
                <a:sym typeface="Times New Roman"/>
              </a:rPr>
              <a:t>Conclusion</a:t>
            </a:r>
            <a:endParaRPr/>
          </a:p>
          <a:p>
            <a:pPr indent="-457200" lvl="0" marL="457200" marR="0" rtl="0" algn="just">
              <a:lnSpc>
                <a:spcPct val="150000"/>
              </a:lnSpc>
              <a:spcBef>
                <a:spcPts val="400"/>
              </a:spcBef>
              <a:spcAft>
                <a:spcPts val="0"/>
              </a:spcAft>
              <a:buClr>
                <a:srgbClr val="92D050"/>
              </a:buClr>
              <a:buSzPts val="2000"/>
              <a:buFont typeface="Calibri"/>
              <a:buAutoNum type="arabicPeriod"/>
            </a:pPr>
            <a:r>
              <a:rPr b="0" i="0" lang="en-US" sz="2000" u="none" cap="none" strike="noStrike">
                <a:solidFill>
                  <a:srgbClr val="92D050"/>
                </a:solidFill>
                <a:latin typeface="Times New Roman"/>
                <a:ea typeface="Times New Roman"/>
                <a:cs typeface="Times New Roman"/>
                <a:sym typeface="Times New Roman"/>
              </a:rPr>
              <a:t>References</a:t>
            </a:r>
            <a:endParaRPr/>
          </a:p>
        </p:txBody>
      </p:sp>
      <p:sp>
        <p:nvSpPr>
          <p:cNvPr id="249" name="Google Shape;249;p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250" name="Google Shape;250;p2"/>
          <p:cNvPicPr preferRelativeResize="0"/>
          <p:nvPr/>
        </p:nvPicPr>
        <p:blipFill rotWithShape="1">
          <a:blip r:embed="rId3">
            <a:alphaModFix/>
          </a:blip>
          <a:srcRect b="0" l="0" r="0" t="0"/>
          <a:stretch/>
        </p:blipFill>
        <p:spPr>
          <a:xfrm>
            <a:off x="6921500" y="136525"/>
            <a:ext cx="1971675" cy="809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Problem Statement</a:t>
            </a:r>
            <a:endParaRPr/>
          </a:p>
        </p:txBody>
      </p:sp>
      <p:sp>
        <p:nvSpPr>
          <p:cNvPr id="256" name="Google Shape;256;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lang="en-US" sz="2000">
                <a:solidFill>
                  <a:srgbClr val="000000"/>
                </a:solidFill>
                <a:latin typeface="Times New Roman"/>
                <a:ea typeface="Times New Roman"/>
                <a:cs typeface="Times New Roman"/>
                <a:sym typeface="Times New Roman"/>
              </a:rPr>
              <a:t>Social media and AI are increasingly embedded in the lives of youth, shaping their mental health, productivity, and social interactions. While AI offers tools for early detection of mental health issues and peer counseling, it often lacks empathy, fairness, and real-world validation. Simultaneously, algorithm-driven platforms expose young users to biased content, misinformation, peer pressure, and harmful influences. Despite growing research across areas like mental health, counseling, and algorithmic risks, studies remain fragmented and fail to offer a comparative analysis of the overall impact. There is a pressing need to evaluate the relative influence—impact ratios—of social media and AI on youth, and to develop balanced counseling strategies that promote digital well-being while mitigating risks.</a:t>
            </a:r>
            <a:r>
              <a:rPr b="0" i="0" lang="en-US" sz="2000" u="none" cap="none" strike="noStrike">
                <a:solidFill>
                  <a:srgbClr val="000000"/>
                </a:solidFill>
                <a:latin typeface="Times New Roman"/>
                <a:ea typeface="Times New Roman"/>
                <a:cs typeface="Times New Roman"/>
                <a:sym typeface="Times New Roman"/>
              </a:rPr>
              <a:t> </a:t>
            </a:r>
            <a:endParaRPr b="1" i="1" sz="2000" u="sng" cap="none" strike="noStrik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1" i="1" sz="2000" u="sng">
              <a:solidFill>
                <a:schemeClr val="dk1"/>
              </a:solidFill>
              <a:latin typeface="Times New Roman"/>
              <a:ea typeface="Times New Roman"/>
              <a:cs typeface="Times New Roman"/>
              <a:sym typeface="Times New Roman"/>
            </a:endParaRPr>
          </a:p>
        </p:txBody>
      </p:sp>
      <p:sp>
        <p:nvSpPr>
          <p:cNvPr id="257" name="Google Shape;257;p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258" name="Google Shape;258;p3"/>
          <p:cNvPicPr preferRelativeResize="0"/>
          <p:nvPr/>
        </p:nvPicPr>
        <p:blipFill rotWithShape="1">
          <a:blip r:embed="rId3">
            <a:alphaModFix/>
          </a:blip>
          <a:srcRect b="0" l="0" r="0" t="0"/>
          <a:stretch/>
        </p:blipFill>
        <p:spPr>
          <a:xfrm>
            <a:off x="6875462" y="92075"/>
            <a:ext cx="1971675" cy="809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Objectives</a:t>
            </a:r>
            <a:endParaRPr/>
          </a:p>
        </p:txBody>
      </p:sp>
      <p:sp>
        <p:nvSpPr>
          <p:cNvPr id="264" name="Google Shape;264;p4"/>
          <p:cNvSpPr txBox="1"/>
          <p:nvPr>
            <p:ph idx="1" type="body"/>
          </p:nvPr>
        </p:nvSpPr>
        <p:spPr>
          <a:xfrm>
            <a:off x="457200" y="1211900"/>
            <a:ext cx="8229600" cy="514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000"/>
              <a:buFont typeface="Arial"/>
              <a:buNone/>
            </a:pPr>
            <a:r>
              <a:rPr lang="en-US" sz="2000">
                <a:solidFill>
                  <a:srgbClr val="000000"/>
                </a:solidFill>
                <a:latin typeface="Times New Roman"/>
                <a:ea typeface="Times New Roman"/>
                <a:cs typeface="Times New Roman"/>
                <a:sym typeface="Times New Roman"/>
              </a:rPr>
              <a:t>    </a:t>
            </a:r>
            <a:r>
              <a:rPr lang="en-US" sz="2100">
                <a:solidFill>
                  <a:srgbClr val="000000"/>
                </a:solidFill>
                <a:latin typeface="Times New Roman"/>
                <a:ea typeface="Times New Roman"/>
                <a:cs typeface="Times New Roman"/>
                <a:sym typeface="Times New Roman"/>
              </a:rPr>
              <a:t> </a:t>
            </a:r>
            <a:r>
              <a:rPr lang="en-US" sz="2200">
                <a:solidFill>
                  <a:srgbClr val="000000"/>
                </a:solidFill>
                <a:latin typeface="Times New Roman"/>
                <a:ea typeface="Times New Roman"/>
                <a:cs typeface="Times New Roman"/>
                <a:sym typeface="Times New Roman"/>
              </a:rPr>
              <a:t> </a:t>
            </a:r>
            <a:r>
              <a:rPr b="1" lang="en-US" sz="1700">
                <a:latin typeface="Arial"/>
                <a:ea typeface="Arial"/>
                <a:cs typeface="Arial"/>
                <a:sym typeface="Arial"/>
              </a:rPr>
              <a:t>Analyze Social Media Impact</a:t>
            </a:r>
            <a:br>
              <a:rPr b="1" lang="en-US" sz="1700">
                <a:latin typeface="Arial"/>
                <a:ea typeface="Arial"/>
                <a:cs typeface="Arial"/>
                <a:sym typeface="Arial"/>
              </a:rPr>
            </a:br>
            <a:r>
              <a:rPr lang="en-US" sz="1700">
                <a:latin typeface="Arial"/>
                <a:ea typeface="Arial"/>
                <a:cs typeface="Arial"/>
                <a:sym typeface="Arial"/>
              </a:rPr>
              <a:t> Evaluate how social media usage affects youth mental health, productivity, and social behavior.</a:t>
            </a:r>
            <a:br>
              <a:rPr lang="en-US" sz="1700">
                <a:latin typeface="Arial"/>
                <a:ea typeface="Arial"/>
                <a:cs typeface="Arial"/>
                <a:sym typeface="Arial"/>
              </a:rPr>
            </a:br>
            <a:endParaRPr sz="1700">
              <a:latin typeface="Arial"/>
              <a:ea typeface="Arial"/>
              <a:cs typeface="Arial"/>
              <a:sym typeface="Arial"/>
            </a:endParaRPr>
          </a:p>
          <a:p>
            <a:pPr indent="-336550" lvl="0" marL="457200" rtl="0" algn="l">
              <a:spcBef>
                <a:spcPts val="0"/>
              </a:spcBef>
              <a:spcAft>
                <a:spcPts val="0"/>
              </a:spcAft>
              <a:buSzPts val="1700"/>
              <a:buChar char="●"/>
            </a:pPr>
            <a:r>
              <a:rPr b="1" lang="en-US" sz="1700">
                <a:latin typeface="Arial"/>
                <a:ea typeface="Arial"/>
                <a:cs typeface="Arial"/>
                <a:sym typeface="Arial"/>
              </a:rPr>
              <a:t>Study AI Influence</a:t>
            </a:r>
            <a:br>
              <a:rPr b="1" lang="en-US" sz="1700">
                <a:latin typeface="Arial"/>
                <a:ea typeface="Arial"/>
                <a:cs typeface="Arial"/>
                <a:sym typeface="Arial"/>
              </a:rPr>
            </a:br>
            <a:r>
              <a:rPr lang="en-US" sz="1700">
                <a:latin typeface="Arial"/>
                <a:ea typeface="Arial"/>
                <a:cs typeface="Arial"/>
                <a:sym typeface="Arial"/>
              </a:rPr>
              <a:t> Investigate the role of AI tools in peer-support and counseling for youth, including acceptance and preferences.</a:t>
            </a:r>
            <a:br>
              <a:rPr lang="en-US" sz="1700">
                <a:latin typeface="Arial"/>
                <a:ea typeface="Arial"/>
                <a:cs typeface="Arial"/>
                <a:sym typeface="Arial"/>
              </a:rPr>
            </a:br>
            <a:endParaRPr sz="1700">
              <a:latin typeface="Arial"/>
              <a:ea typeface="Arial"/>
              <a:cs typeface="Arial"/>
              <a:sym typeface="Arial"/>
            </a:endParaRPr>
          </a:p>
          <a:p>
            <a:pPr indent="-336550" lvl="0" marL="457200" rtl="0" algn="l">
              <a:spcBef>
                <a:spcPts val="0"/>
              </a:spcBef>
              <a:spcAft>
                <a:spcPts val="0"/>
              </a:spcAft>
              <a:buSzPts val="1700"/>
              <a:buChar char="●"/>
            </a:pPr>
            <a:r>
              <a:rPr b="1" lang="en-US" sz="1700">
                <a:latin typeface="Arial"/>
                <a:ea typeface="Arial"/>
                <a:cs typeface="Arial"/>
                <a:sym typeface="Arial"/>
              </a:rPr>
              <a:t>Identify Risks of Generative AI</a:t>
            </a:r>
            <a:br>
              <a:rPr b="1" lang="en-US" sz="1700">
                <a:latin typeface="Arial"/>
                <a:ea typeface="Arial"/>
                <a:cs typeface="Arial"/>
                <a:sym typeface="Arial"/>
              </a:rPr>
            </a:br>
            <a:r>
              <a:rPr lang="en-US" sz="1700">
                <a:latin typeface="Arial"/>
                <a:ea typeface="Arial"/>
                <a:cs typeface="Arial"/>
                <a:sym typeface="Arial"/>
              </a:rPr>
              <a:t> Map psychological, behavioral, and social risks associated with Generative AI use by young people.</a:t>
            </a:r>
            <a:br>
              <a:rPr lang="en-US" sz="1700">
                <a:latin typeface="Arial"/>
                <a:ea typeface="Arial"/>
                <a:cs typeface="Arial"/>
                <a:sym typeface="Arial"/>
              </a:rPr>
            </a:br>
            <a:endParaRPr sz="1700">
              <a:latin typeface="Arial"/>
              <a:ea typeface="Arial"/>
              <a:cs typeface="Arial"/>
              <a:sym typeface="Arial"/>
            </a:endParaRPr>
          </a:p>
          <a:p>
            <a:pPr indent="-336550" lvl="0" marL="457200" rtl="0" algn="l">
              <a:spcBef>
                <a:spcPts val="0"/>
              </a:spcBef>
              <a:spcAft>
                <a:spcPts val="0"/>
              </a:spcAft>
              <a:buSzPts val="1700"/>
              <a:buChar char="●"/>
            </a:pPr>
            <a:r>
              <a:rPr b="1" lang="en-US" sz="1700">
                <a:latin typeface="Arial"/>
                <a:ea typeface="Arial"/>
                <a:cs typeface="Arial"/>
                <a:sym typeface="Arial"/>
              </a:rPr>
              <a:t>Extract Data-Driven Insights</a:t>
            </a:r>
            <a:br>
              <a:rPr b="1" lang="en-US" sz="1700">
                <a:latin typeface="Arial"/>
                <a:ea typeface="Arial"/>
                <a:cs typeface="Arial"/>
                <a:sym typeface="Arial"/>
              </a:rPr>
            </a:br>
            <a:r>
              <a:rPr lang="en-US" sz="1700">
                <a:latin typeface="Arial"/>
                <a:ea typeface="Arial"/>
                <a:cs typeface="Arial"/>
                <a:sym typeface="Arial"/>
              </a:rPr>
              <a:t> Collect and analyze datasets (social media posts, surveys, chat transcripts) to quantify the impact ratio.</a:t>
            </a:r>
            <a:br>
              <a:rPr lang="en-US" sz="1700">
                <a:latin typeface="Arial"/>
                <a:ea typeface="Arial"/>
                <a:cs typeface="Arial"/>
                <a:sym typeface="Arial"/>
              </a:rPr>
            </a:br>
            <a:endParaRPr sz="1700">
              <a:latin typeface="Arial"/>
              <a:ea typeface="Arial"/>
              <a:cs typeface="Arial"/>
              <a:sym typeface="Arial"/>
            </a:endParaRPr>
          </a:p>
          <a:p>
            <a:pPr indent="-336550" lvl="0" marL="457200" rtl="0" algn="l">
              <a:spcBef>
                <a:spcPts val="0"/>
              </a:spcBef>
              <a:spcAft>
                <a:spcPts val="0"/>
              </a:spcAft>
              <a:buSzPts val="1700"/>
              <a:buChar char="●"/>
            </a:pPr>
            <a:r>
              <a:rPr b="1" lang="en-US" sz="1700">
                <a:latin typeface="Arial"/>
                <a:ea typeface="Arial"/>
                <a:cs typeface="Arial"/>
                <a:sym typeface="Arial"/>
              </a:rPr>
              <a:t>Provide Counseling Recommendations</a:t>
            </a:r>
            <a:br>
              <a:rPr b="1" lang="en-US" sz="1700">
                <a:latin typeface="Arial"/>
                <a:ea typeface="Arial"/>
                <a:cs typeface="Arial"/>
                <a:sym typeface="Arial"/>
              </a:rPr>
            </a:br>
            <a:r>
              <a:rPr lang="en-US" sz="1700">
                <a:latin typeface="Arial"/>
                <a:ea typeface="Arial"/>
                <a:cs typeface="Arial"/>
                <a:sym typeface="Arial"/>
              </a:rPr>
              <a:t> Suggest targeted interventions and hybrid AI-human approaches to mitigate negative effects and enhance safe usage.</a:t>
            </a:r>
            <a:endParaRPr sz="1700">
              <a:latin typeface="Arial"/>
              <a:ea typeface="Arial"/>
              <a:cs typeface="Arial"/>
              <a:sym typeface="Arial"/>
            </a:endParaRPr>
          </a:p>
          <a:p>
            <a:pPr indent="0" lvl="0" marL="73025" rtl="0" algn="l">
              <a:spcBef>
                <a:spcPts val="0"/>
              </a:spcBef>
              <a:spcAft>
                <a:spcPts val="0"/>
              </a:spcAft>
              <a:buClr>
                <a:schemeClr val="dk1"/>
              </a:buClr>
              <a:buSzPts val="2000"/>
              <a:buFont typeface="Arial"/>
              <a:buNone/>
            </a:pPr>
            <a:r>
              <a:rPr lang="en-US" sz="2300">
                <a:latin typeface="Times New Roman"/>
                <a:ea typeface="Times New Roman"/>
                <a:cs typeface="Times New Roman"/>
                <a:sym typeface="Times New Roman"/>
              </a:rPr>
              <a:t> </a:t>
            </a:r>
            <a:endParaRPr b="1" i="1" sz="2300" u="sng">
              <a:solidFill>
                <a:srgbClr val="282828"/>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2000"/>
              <a:buFont typeface="Arial"/>
              <a:buNone/>
            </a:pPr>
            <a:r>
              <a:t/>
            </a:r>
            <a:endParaRPr sz="1600">
              <a:solidFill>
                <a:srgbClr val="000000"/>
              </a:solidFill>
              <a:latin typeface="Times New Roman"/>
              <a:ea typeface="Times New Roman"/>
              <a:cs typeface="Times New Roman"/>
              <a:sym typeface="Times New Roman"/>
            </a:endParaRPr>
          </a:p>
        </p:txBody>
      </p:sp>
      <p:sp>
        <p:nvSpPr>
          <p:cNvPr id="265" name="Google Shape;265;p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266" name="Google Shape;266;p4"/>
          <p:cNvPicPr preferRelativeResize="0"/>
          <p:nvPr/>
        </p:nvPicPr>
        <p:blipFill rotWithShape="1">
          <a:blip r:embed="rId3">
            <a:alphaModFix/>
          </a:blip>
          <a:srcRect b="0" l="0" r="0" t="0"/>
          <a:stretch/>
        </p:blipFill>
        <p:spPr>
          <a:xfrm>
            <a:off x="6634162" y="271462"/>
            <a:ext cx="1971675" cy="809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5"/>
          <p:cNvSpPr txBox="1"/>
          <p:nvPr>
            <p:ph type="title"/>
          </p:nvPr>
        </p:nvSpPr>
        <p:spPr>
          <a:xfrm>
            <a:off x="457200" y="628650"/>
            <a:ext cx="8229600" cy="7889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Feedback from Guide/Reviewers and actions taken after Review–1</a:t>
            </a:r>
            <a:endParaRPr/>
          </a:p>
        </p:txBody>
      </p:sp>
      <p:sp>
        <p:nvSpPr>
          <p:cNvPr id="272" name="Google Shape;272;p5"/>
          <p:cNvSpPr txBox="1"/>
          <p:nvPr>
            <p:ph idx="1" type="body"/>
          </p:nvPr>
        </p:nvSpPr>
        <p:spPr>
          <a:xfrm>
            <a:off x="457200" y="1600200"/>
            <a:ext cx="8229600" cy="365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lang="en-US"/>
              <a:t>Feedback and Actions</a:t>
            </a:r>
            <a:endParaRPr/>
          </a:p>
          <a:p>
            <a:pPr indent="0" lvl="0" marL="0" marR="0" rtl="0" algn="l">
              <a:lnSpc>
                <a:spcPct val="100000"/>
              </a:lnSpc>
              <a:spcBef>
                <a:spcPts val="0"/>
              </a:spcBef>
              <a:spcAft>
                <a:spcPts val="0"/>
              </a:spcAft>
              <a:buClr>
                <a:srgbClr val="000000"/>
              </a:buClr>
              <a:buSzPts val="2000"/>
              <a:buFont typeface="Arial"/>
              <a:buNone/>
            </a:pPr>
            <a:r>
              <a:t/>
            </a:r>
            <a:endParaRPr/>
          </a:p>
          <a:p>
            <a:pPr indent="0" lvl="0" marL="0" marR="0" rtl="0" algn="l">
              <a:lnSpc>
                <a:spcPct val="100000"/>
              </a:lnSpc>
              <a:spcBef>
                <a:spcPts val="0"/>
              </a:spcBef>
              <a:spcAft>
                <a:spcPts val="0"/>
              </a:spcAft>
              <a:buClr>
                <a:srgbClr val="000000"/>
              </a:buClr>
              <a:buSzPts val="2000"/>
              <a:buFont typeface="Arial"/>
              <a:buNone/>
            </a:pPr>
            <a:r>
              <a:t/>
            </a:r>
            <a:endParaRPr/>
          </a:p>
        </p:txBody>
      </p:sp>
      <p:sp>
        <p:nvSpPr>
          <p:cNvPr id="273" name="Google Shape;273;p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74" name="Google Shape;274;p5"/>
          <p:cNvSpPr txBox="1"/>
          <p:nvPr/>
        </p:nvSpPr>
        <p:spPr>
          <a:xfrm>
            <a:off x="460375" y="2276475"/>
            <a:ext cx="8229600" cy="3651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Feedback from Guide/Reviewers</a:t>
            </a:r>
            <a:endParaRPr b="1" i="0" sz="20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000"/>
              <a:buFont typeface="Times New Roman"/>
              <a:buNone/>
            </a:pPr>
            <a:r>
              <a:t/>
            </a:r>
            <a:endParaRPr b="1" sz="2000">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1. </a:t>
            </a:r>
            <a:r>
              <a:rPr b="1" lang="en-US" sz="2000">
                <a:solidFill>
                  <a:schemeClr val="dk1"/>
                </a:solidFill>
                <a:latin typeface="Times New Roman"/>
                <a:ea typeface="Times New Roman"/>
                <a:cs typeface="Times New Roman"/>
                <a:sym typeface="Times New Roman"/>
              </a:rPr>
              <a:t>Earlier our research was limited to the Research papers.</a:t>
            </a:r>
            <a:endParaRPr/>
          </a:p>
          <a:p>
            <a:pPr indent="-342900" lvl="0" marL="342900" marR="0" rtl="0" algn="l">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2. Few mistakes were done in the presentation</a:t>
            </a:r>
            <a:endParaRPr/>
          </a:p>
          <a:p>
            <a:pPr indent="-342900" lvl="0" marL="342900" marR="0" rtl="0" algn="l">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3. Proper communication bet</a:t>
            </a:r>
            <a:r>
              <a:rPr b="1" lang="en-US" sz="2000">
                <a:solidFill>
                  <a:schemeClr val="dk1"/>
                </a:solidFill>
                <a:latin typeface="Times New Roman"/>
                <a:ea typeface="Times New Roman"/>
                <a:cs typeface="Times New Roman"/>
                <a:sym typeface="Times New Roman"/>
              </a:rPr>
              <a:t>ween guide and teammates.</a:t>
            </a:r>
            <a:endParaRPr/>
          </a:p>
          <a:p>
            <a:pPr indent="-342900" lvl="0" marL="342900" marR="0" rtl="0" algn="l">
              <a:lnSpc>
                <a:spcPct val="100000"/>
              </a:lnSpc>
              <a:spcBef>
                <a:spcPts val="0"/>
              </a:spcBef>
              <a:spcAft>
                <a:spcPts val="0"/>
              </a:spcAft>
              <a:buClr>
                <a:schemeClr val="dk1"/>
              </a:buClr>
              <a:buSzPts val="2000"/>
              <a:buFont typeface="Calibri"/>
              <a:buNone/>
            </a:pPr>
            <a:r>
              <a:t/>
            </a:r>
            <a:endParaRPr b="1" i="0" sz="20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Actions taken</a:t>
            </a:r>
            <a:endParaRPr b="1" i="0" sz="20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000"/>
              <a:buFont typeface="Times New Roman"/>
              <a:buNone/>
            </a:pPr>
            <a:r>
              <a:t/>
            </a:r>
            <a:endParaRPr b="1" sz="2000">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1. We manually collected data from friends and</a:t>
            </a:r>
            <a:r>
              <a:rPr b="1" lang="en-US" sz="2000">
                <a:solidFill>
                  <a:schemeClr val="dk1"/>
                </a:solidFill>
                <a:latin typeface="Times New Roman"/>
                <a:ea typeface="Times New Roman"/>
                <a:cs typeface="Times New Roman"/>
                <a:sym typeface="Times New Roman"/>
              </a:rPr>
              <a:t> our College</a:t>
            </a:r>
            <a:r>
              <a:rPr b="1" i="0" lang="en-US" sz="2000" u="none" cap="none" strike="noStrike">
                <a:solidFill>
                  <a:schemeClr val="dk1"/>
                </a:solidFill>
                <a:latin typeface="Times New Roman"/>
                <a:ea typeface="Times New Roman"/>
                <a:cs typeface="Times New Roman"/>
                <a:sym typeface="Times New Roman"/>
              </a:rPr>
              <a:t>.</a:t>
            </a:r>
            <a:endParaRPr/>
          </a:p>
          <a:p>
            <a:pPr indent="-342900" lvl="0" marL="342900" marR="0" rtl="0" algn="l">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2. We fixed them this </a:t>
            </a:r>
            <a:r>
              <a:rPr b="1" lang="en-US" sz="2000">
                <a:solidFill>
                  <a:schemeClr val="dk1"/>
                </a:solidFill>
                <a:latin typeface="Times New Roman"/>
                <a:ea typeface="Times New Roman"/>
                <a:cs typeface="Times New Roman"/>
                <a:sym typeface="Times New Roman"/>
              </a:rPr>
              <a:t>time.</a:t>
            </a:r>
            <a:endParaRPr/>
          </a:p>
          <a:p>
            <a:pPr indent="-342900" lvl="0" marL="342900" marR="0" rtl="0" algn="l">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3. Ater review </a:t>
            </a:r>
            <a:r>
              <a:rPr b="1" lang="en-US" sz="2000">
                <a:solidFill>
                  <a:schemeClr val="dk1"/>
                </a:solidFill>
                <a:latin typeface="Times New Roman"/>
                <a:ea typeface="Times New Roman"/>
                <a:cs typeface="Times New Roman"/>
                <a:sym typeface="Times New Roman"/>
              </a:rPr>
              <a:t>one everyone took initiatives and worked for a common goal which was to complete the project and help each other.</a:t>
            </a:r>
            <a:endParaRPr sz="1900">
              <a:solidFill>
                <a:srgbClr val="E8E8E8"/>
              </a:solidFill>
              <a:highlight>
                <a:srgbClr val="1F1F1F"/>
              </a:highlight>
            </a:endParaRPr>
          </a:p>
          <a:p>
            <a:pPr indent="0" lvl="0" marL="0" rtl="0" algn="l">
              <a:lnSpc>
                <a:spcPct val="128571"/>
              </a:lnSpc>
              <a:spcBef>
                <a:spcPts val="0"/>
              </a:spcBef>
              <a:spcAft>
                <a:spcPts val="0"/>
              </a:spcAft>
              <a:buClr>
                <a:schemeClr val="dk1"/>
              </a:buClr>
              <a:buSzPts val="1100"/>
              <a:buFont typeface="Arial"/>
              <a:buNone/>
            </a:pPr>
            <a:r>
              <a:t/>
            </a:r>
            <a:endParaRPr sz="2100">
              <a:solidFill>
                <a:schemeClr val="dk1"/>
              </a:solidFill>
            </a:endParaRPr>
          </a:p>
          <a:p>
            <a:pPr indent="-342900" lvl="0" marL="342900" marR="0" rtl="0" algn="l">
              <a:lnSpc>
                <a:spcPct val="100000"/>
              </a:lnSpc>
              <a:spcBef>
                <a:spcPts val="0"/>
              </a:spcBef>
              <a:spcAft>
                <a:spcPts val="0"/>
              </a:spcAft>
              <a:buClr>
                <a:schemeClr val="dk1"/>
              </a:buClr>
              <a:buSzPts val="2000"/>
              <a:buFont typeface="Times New Roman"/>
              <a:buNone/>
            </a:pPr>
            <a:r>
              <a:t/>
            </a:r>
            <a:endParaRPr b="1" sz="2000">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000"/>
              <a:buFont typeface="Calibri"/>
              <a:buNone/>
            </a:pPr>
            <a:r>
              <a:t/>
            </a:r>
            <a:endParaRPr b="1"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000" u="none">
              <a:solidFill>
                <a:schemeClr val="dk1"/>
              </a:solidFill>
              <a:latin typeface="Times New Roman"/>
              <a:ea typeface="Times New Roman"/>
              <a:cs typeface="Times New Roman"/>
              <a:sym typeface="Times New Roman"/>
            </a:endParaRPr>
          </a:p>
        </p:txBody>
      </p:sp>
      <p:pic>
        <p:nvPicPr>
          <p:cNvPr id="275" name="Google Shape;275;p5"/>
          <p:cNvPicPr preferRelativeResize="0"/>
          <p:nvPr/>
        </p:nvPicPr>
        <p:blipFill rotWithShape="1">
          <a:blip r:embed="rId3">
            <a:alphaModFix/>
          </a:blip>
          <a:srcRect b="0" l="0" r="0" t="0"/>
          <a:stretch/>
        </p:blipFill>
        <p:spPr>
          <a:xfrm>
            <a:off x="7526337" y="-36512"/>
            <a:ext cx="1619250" cy="66516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Requirement Analysis</a:t>
            </a:r>
            <a:endParaRPr/>
          </a:p>
        </p:txBody>
      </p:sp>
      <p:sp>
        <p:nvSpPr>
          <p:cNvPr id="281" name="Google Shape;281;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1" i="0" lang="en-US" sz="2800" u="none">
                <a:solidFill>
                  <a:schemeClr val="dk1"/>
                </a:solidFill>
                <a:latin typeface="Times New Roman"/>
                <a:ea typeface="Times New Roman"/>
                <a:cs typeface="Times New Roman"/>
                <a:sym typeface="Times New Roman"/>
              </a:rPr>
              <a:t>Hardware Requirements</a:t>
            </a:r>
            <a:endParaRPr b="1" i="0" sz="2800" u="none">
              <a:solidFill>
                <a:schemeClr val="dk1"/>
              </a:solidFill>
              <a:latin typeface="Times New Roman"/>
              <a:ea typeface="Times New Roman"/>
              <a:cs typeface="Times New Roman"/>
              <a:sym typeface="Times New Roman"/>
            </a:endParaRPr>
          </a:p>
          <a:p>
            <a:pPr indent="0" lvl="0" marL="342900" marR="0" rtl="0" algn="l">
              <a:lnSpc>
                <a:spcPct val="100000"/>
              </a:lnSpc>
              <a:spcBef>
                <a:spcPts val="0"/>
              </a:spcBef>
              <a:spcAft>
                <a:spcPts val="0"/>
              </a:spcAft>
              <a:buNone/>
            </a:pPr>
            <a:r>
              <a:t/>
            </a:r>
            <a:endParaRPr b="1" sz="2800">
              <a:latin typeface="Times New Roman"/>
              <a:ea typeface="Times New Roman"/>
              <a:cs typeface="Times New Roman"/>
              <a:sym typeface="Times New Roman"/>
            </a:endParaRPr>
          </a:p>
          <a:p>
            <a:pPr indent="0" lvl="0" marL="342900" marR="0" rtl="0" algn="l">
              <a:lnSpc>
                <a:spcPct val="100000"/>
              </a:lnSpc>
              <a:spcBef>
                <a:spcPts val="0"/>
              </a:spcBef>
              <a:spcAft>
                <a:spcPts val="0"/>
              </a:spcAft>
              <a:buNone/>
            </a:pPr>
            <a:r>
              <a:rPr i="0" lang="en-US" sz="2000" u="none">
                <a:solidFill>
                  <a:schemeClr val="dk1"/>
                </a:solidFill>
                <a:latin typeface="Times New Roman"/>
                <a:ea typeface="Times New Roman"/>
                <a:cs typeface="Times New Roman"/>
                <a:sym typeface="Times New Roman"/>
              </a:rPr>
              <a:t>Processor: Intel i5 or above</a:t>
            </a:r>
            <a:endParaRPr i="0" sz="2000" u="none">
              <a:solidFill>
                <a:schemeClr val="dk1"/>
              </a:solidFill>
              <a:latin typeface="Times New Roman"/>
              <a:ea typeface="Times New Roman"/>
              <a:cs typeface="Times New Roman"/>
              <a:sym typeface="Times New Roman"/>
            </a:endParaRPr>
          </a:p>
          <a:p>
            <a:pPr indent="-355600" lvl="0" marL="342900" rtl="0" algn="l">
              <a:spcBef>
                <a:spcPts val="0"/>
              </a:spcBef>
              <a:spcAft>
                <a:spcPts val="0"/>
              </a:spcAft>
              <a:buSzPts val="2000"/>
              <a:buChar char="•"/>
            </a:pPr>
            <a:r>
              <a:rPr i="0" lang="en-US" sz="2000" u="none">
                <a:solidFill>
                  <a:schemeClr val="dk1"/>
                </a:solidFill>
                <a:latin typeface="Times New Roman"/>
                <a:ea typeface="Times New Roman"/>
                <a:cs typeface="Times New Roman"/>
                <a:sym typeface="Times New Roman"/>
              </a:rPr>
              <a:t>RAM: 8 GB+</a:t>
            </a:r>
            <a:endParaRPr i="0" sz="2000" u="none">
              <a:solidFill>
                <a:schemeClr val="dk1"/>
              </a:solidFill>
              <a:latin typeface="Times New Roman"/>
              <a:ea typeface="Times New Roman"/>
              <a:cs typeface="Times New Roman"/>
              <a:sym typeface="Times New Roman"/>
            </a:endParaRPr>
          </a:p>
          <a:p>
            <a:pPr indent="-355600" lvl="0" marL="342900" rtl="0" algn="l">
              <a:spcBef>
                <a:spcPts val="0"/>
              </a:spcBef>
              <a:spcAft>
                <a:spcPts val="0"/>
              </a:spcAft>
              <a:buSzPts val="2000"/>
              <a:buChar char="•"/>
            </a:pPr>
            <a:r>
              <a:rPr i="0" lang="en-US" sz="2000" u="none">
                <a:solidFill>
                  <a:schemeClr val="dk1"/>
                </a:solidFill>
                <a:latin typeface="Times New Roman"/>
                <a:ea typeface="Times New Roman"/>
                <a:cs typeface="Times New Roman"/>
                <a:sym typeface="Times New Roman"/>
              </a:rPr>
              <a:t>Storage: </a:t>
            </a:r>
            <a:r>
              <a:rPr lang="en-US" sz="2000">
                <a:latin typeface="Times New Roman"/>
                <a:ea typeface="Times New Roman"/>
                <a:cs typeface="Times New Roman"/>
                <a:sym typeface="Times New Roman"/>
              </a:rPr>
              <a:t>512GB</a:t>
            </a:r>
            <a:r>
              <a:rPr i="0" lang="en-US" sz="2000" u="none">
                <a:solidFill>
                  <a:schemeClr val="dk1"/>
                </a:solidFill>
                <a:latin typeface="Times New Roman"/>
                <a:ea typeface="Times New Roman"/>
                <a:cs typeface="Times New Roman"/>
                <a:sym typeface="Times New Roman"/>
              </a:rPr>
              <a:t> SSD</a:t>
            </a:r>
            <a:endParaRPr i="0" sz="2000" u="none">
              <a:solidFill>
                <a:schemeClr val="dk1"/>
              </a:solidFill>
              <a:latin typeface="Times New Roman"/>
              <a:ea typeface="Times New Roman"/>
              <a:cs typeface="Times New Roman"/>
              <a:sym typeface="Times New Roman"/>
            </a:endParaRPr>
          </a:p>
          <a:p>
            <a:pPr indent="-355600" lvl="0" marL="342900" rtl="0" algn="l">
              <a:spcBef>
                <a:spcPts val="0"/>
              </a:spcBef>
              <a:spcAft>
                <a:spcPts val="0"/>
              </a:spcAft>
              <a:buSzPts val="2000"/>
              <a:buChar char="•"/>
            </a:pPr>
            <a:r>
              <a:rPr i="0" lang="en-US" sz="2000" u="none">
                <a:solidFill>
                  <a:schemeClr val="dk1"/>
                </a:solidFill>
                <a:latin typeface="Times New Roman"/>
                <a:ea typeface="Times New Roman"/>
                <a:cs typeface="Times New Roman"/>
                <a:sym typeface="Times New Roman"/>
              </a:rPr>
              <a:t>Internet connection</a:t>
            </a:r>
            <a:endParaRPr i="0" sz="2000" u="none">
              <a:solidFill>
                <a:schemeClr val="dk1"/>
              </a:solidFill>
              <a:latin typeface="Times New Roman"/>
              <a:ea typeface="Times New Roman"/>
              <a:cs typeface="Times New Roman"/>
              <a:sym typeface="Times New Roman"/>
            </a:endParaRPr>
          </a:p>
          <a:p>
            <a:pPr indent="0" lvl="0" marL="342900" rtl="0" algn="l">
              <a:spcBef>
                <a:spcPts val="0"/>
              </a:spcBef>
              <a:spcAft>
                <a:spcPts val="0"/>
              </a:spcAft>
              <a:buNone/>
            </a:pPr>
            <a:r>
              <a:t/>
            </a:r>
            <a:endParaRPr sz="2000">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Times New Roman"/>
                <a:ea typeface="Times New Roman"/>
                <a:cs typeface="Times New Roman"/>
                <a:sym typeface="Times New Roman"/>
              </a:rPr>
              <a:t>Software Requirements</a:t>
            </a:r>
            <a:endParaRPr/>
          </a:p>
          <a:p>
            <a:pPr indent="0" lvl="0" marL="0" rtl="0" algn="l">
              <a:spcBef>
                <a:spcPts val="400"/>
              </a:spcBef>
              <a:spcAft>
                <a:spcPts val="0"/>
              </a:spcAft>
              <a:buClr>
                <a:schemeClr val="dk1"/>
              </a:buClr>
              <a:buSzPts val="1100"/>
              <a:buFont typeface="Arial"/>
              <a:buNone/>
            </a:pPr>
            <a:r>
              <a:rPr lang="en-US" sz="2000">
                <a:solidFill>
                  <a:srgbClr val="000000"/>
                </a:solidFill>
                <a:latin typeface="Times New Roman"/>
                <a:ea typeface="Times New Roman"/>
                <a:cs typeface="Times New Roman"/>
                <a:sym typeface="Times New Roman"/>
              </a:rPr>
              <a:t>      Windows 10/11 or equivalent</a:t>
            </a:r>
            <a:endParaRPr sz="2000">
              <a:solidFill>
                <a:srgbClr val="000000"/>
              </a:solidFill>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1100"/>
              <a:buFont typeface="Arial"/>
              <a:buNone/>
            </a:pPr>
            <a:r>
              <a:rPr lang="en-US" sz="2000">
                <a:solidFill>
                  <a:srgbClr val="000000"/>
                </a:solidFill>
                <a:latin typeface="Times New Roman"/>
                <a:ea typeface="Times New Roman"/>
                <a:cs typeface="Times New Roman"/>
                <a:sym typeface="Times New Roman"/>
              </a:rPr>
              <a:t>      MS PowerPoint &amp; MS Word</a:t>
            </a:r>
            <a:endParaRPr sz="2000">
              <a:solidFill>
                <a:srgbClr val="000000"/>
              </a:solidFill>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1100"/>
              <a:buFont typeface="Arial"/>
              <a:buNone/>
            </a:pPr>
            <a:r>
              <a:rPr lang="en-US" sz="2000">
                <a:solidFill>
                  <a:srgbClr val="000000"/>
                </a:solidFill>
                <a:latin typeface="Times New Roman"/>
                <a:ea typeface="Times New Roman"/>
                <a:cs typeface="Times New Roman"/>
                <a:sym typeface="Times New Roman"/>
              </a:rPr>
              <a:t>      Web browser (Chrome)</a:t>
            </a:r>
            <a:endParaRPr sz="2000">
              <a:solidFill>
                <a:srgbClr val="000000"/>
              </a:solidFill>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1100"/>
              <a:buFont typeface="Arial"/>
              <a:buNone/>
            </a:pPr>
            <a:r>
              <a:rPr lang="en-US" sz="2000">
                <a:solidFill>
                  <a:srgbClr val="000000"/>
                </a:solidFill>
                <a:latin typeface="Times New Roman"/>
                <a:ea typeface="Times New Roman"/>
                <a:cs typeface="Times New Roman"/>
                <a:sym typeface="Times New Roman"/>
              </a:rPr>
              <a:t>      PDF reader</a:t>
            </a:r>
            <a:endParaRPr sz="2000">
              <a:solidFill>
                <a:srgbClr val="000000"/>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000000"/>
              </a:buClr>
              <a:buSzPts val="2000"/>
              <a:buFont typeface="Arial"/>
              <a:buNone/>
            </a:pPr>
            <a:r>
              <a:t/>
            </a:r>
            <a:endParaRPr sz="2000">
              <a:solidFill>
                <a:srgbClr val="000000"/>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1" i="1" sz="2000" u="sng">
              <a:solidFill>
                <a:schemeClr val="dk1"/>
              </a:solidFill>
              <a:latin typeface="Times New Roman"/>
              <a:ea typeface="Times New Roman"/>
              <a:cs typeface="Times New Roman"/>
              <a:sym typeface="Times New Roman"/>
            </a:endParaRPr>
          </a:p>
        </p:txBody>
      </p:sp>
      <p:sp>
        <p:nvSpPr>
          <p:cNvPr id="282" name="Google Shape;282;p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pic>
        <p:nvPicPr>
          <p:cNvPr id="283" name="Google Shape;283;p6"/>
          <p:cNvPicPr preferRelativeResize="0"/>
          <p:nvPr/>
        </p:nvPicPr>
        <p:blipFill rotWithShape="1">
          <a:blip r:embed="rId3">
            <a:alphaModFix/>
          </a:blip>
          <a:srcRect b="0" l="0" r="0" t="0"/>
          <a:stretch/>
        </p:blipFill>
        <p:spPr>
          <a:xfrm>
            <a:off x="7172325" y="127000"/>
            <a:ext cx="1971675" cy="809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7"/>
          <p:cNvSpPr txBox="1"/>
          <p:nvPr>
            <p:ph type="title"/>
          </p:nvPr>
        </p:nvSpPr>
        <p:spPr>
          <a:xfrm>
            <a:off x="457200" y="936625"/>
            <a:ext cx="8229600" cy="481012"/>
          </a:xfrm>
          <a:prstGeom prst="rect">
            <a:avLst/>
          </a:prstGeom>
          <a:noFill/>
          <a:ln>
            <a:noFill/>
          </a:ln>
        </p:spPr>
        <p:txBody>
          <a:bodyPr anchorCtr="0" anchor="ctr" bIns="45700" lIns="91425" spcFirstLastPara="1" rIns="91425" wrap="square" tIns="45700">
            <a:noAutofit/>
          </a:bodyPr>
          <a:lstStyle/>
          <a:p>
            <a:pPr indent="-457200" lvl="0" marL="45720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Identification of tools/technology/algorithms</a:t>
            </a:r>
            <a:endParaRPr/>
          </a:p>
        </p:txBody>
      </p:sp>
      <p:sp>
        <p:nvSpPr>
          <p:cNvPr id="289" name="Google Shape;289;p7"/>
          <p:cNvSpPr txBox="1"/>
          <p:nvPr>
            <p:ph idx="1" type="body"/>
          </p:nvPr>
        </p:nvSpPr>
        <p:spPr>
          <a:xfrm>
            <a:off x="611175" y="1844675"/>
            <a:ext cx="8229600" cy="3876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100"/>
              <a:buFont typeface="Arial"/>
              <a:buNone/>
            </a:pPr>
            <a:r>
              <a:t/>
            </a:r>
            <a:endParaRPr b="1" sz="2000">
              <a:latin typeface="Arial"/>
              <a:ea typeface="Arial"/>
              <a:cs typeface="Arial"/>
              <a:sym typeface="Arial"/>
            </a:endParaRPr>
          </a:p>
          <a:p>
            <a:pPr indent="-342900" lvl="0" marL="342900" rtl="0" algn="l">
              <a:spcBef>
                <a:spcPts val="0"/>
              </a:spcBef>
              <a:spcAft>
                <a:spcPts val="0"/>
              </a:spcAft>
              <a:buClr>
                <a:schemeClr val="dk1"/>
              </a:buClr>
              <a:buSzPts val="1100"/>
              <a:buFont typeface="Arial"/>
              <a:buNone/>
            </a:pPr>
            <a:r>
              <a:rPr b="1" lang="en-US" sz="2000">
                <a:latin typeface="Arial"/>
                <a:ea typeface="Arial"/>
                <a:cs typeface="Arial"/>
                <a:sym typeface="Arial"/>
              </a:rPr>
              <a:t>Chat GPT / AI LLMs</a:t>
            </a:r>
            <a:r>
              <a:rPr lang="en-US" sz="2000">
                <a:latin typeface="Arial"/>
                <a:ea typeface="Arial"/>
                <a:cs typeface="Arial"/>
                <a:sym typeface="Arial"/>
              </a:rPr>
              <a:t> – used for summarizing research papers, extracting key points, and generating insights.</a:t>
            </a:r>
            <a:br>
              <a:rPr lang="en-US" sz="2000">
                <a:latin typeface="Arial"/>
                <a:ea typeface="Arial"/>
                <a:cs typeface="Arial"/>
                <a:sym typeface="Arial"/>
              </a:rPr>
            </a:br>
            <a:endParaRPr sz="2000">
              <a:latin typeface="Arial"/>
              <a:ea typeface="Arial"/>
              <a:cs typeface="Arial"/>
              <a:sym typeface="Arial"/>
            </a:endParaRPr>
          </a:p>
          <a:p>
            <a:pPr indent="-342900" lvl="0" marL="342900" rtl="0" algn="l">
              <a:spcBef>
                <a:spcPts val="0"/>
              </a:spcBef>
              <a:spcAft>
                <a:spcPts val="0"/>
              </a:spcAft>
              <a:buClr>
                <a:schemeClr val="dk1"/>
              </a:buClr>
              <a:buSzPts val="1100"/>
              <a:buFont typeface="Arial"/>
              <a:buNone/>
            </a:pPr>
            <a:r>
              <a:rPr b="1" lang="en-US" sz="2000">
                <a:latin typeface="Arial"/>
                <a:ea typeface="Arial"/>
                <a:cs typeface="Arial"/>
                <a:sym typeface="Arial"/>
              </a:rPr>
              <a:t>PDF Analysis Tools</a:t>
            </a:r>
            <a:r>
              <a:rPr lang="en-US" sz="2000">
                <a:latin typeface="Arial"/>
                <a:ea typeface="Arial"/>
                <a:cs typeface="Arial"/>
                <a:sym typeface="Arial"/>
              </a:rPr>
              <a:t> – for reading, extracting, and interpreting research paper content.</a:t>
            </a:r>
            <a:br>
              <a:rPr lang="en-US" sz="2000">
                <a:latin typeface="Arial"/>
                <a:ea typeface="Arial"/>
                <a:cs typeface="Arial"/>
                <a:sym typeface="Arial"/>
              </a:rPr>
            </a:br>
            <a:endParaRPr sz="2000">
              <a:latin typeface="Arial"/>
              <a:ea typeface="Arial"/>
              <a:cs typeface="Arial"/>
              <a:sym typeface="Arial"/>
            </a:endParaRPr>
          </a:p>
          <a:p>
            <a:pPr indent="-342900" lvl="0" marL="342900" rtl="0" algn="l">
              <a:spcBef>
                <a:spcPts val="0"/>
              </a:spcBef>
              <a:spcAft>
                <a:spcPts val="0"/>
              </a:spcAft>
              <a:buClr>
                <a:schemeClr val="dk1"/>
              </a:buClr>
              <a:buSzPts val="1100"/>
              <a:buFont typeface="Arial"/>
              <a:buNone/>
            </a:pPr>
            <a:r>
              <a:rPr b="1" lang="en-US" sz="2000">
                <a:latin typeface="Arial"/>
                <a:ea typeface="Arial"/>
                <a:cs typeface="Arial"/>
                <a:sym typeface="Arial"/>
              </a:rPr>
              <a:t>Microsoft PowerPoint / Word</a:t>
            </a:r>
            <a:r>
              <a:rPr lang="en-US" sz="2000">
                <a:latin typeface="Arial"/>
                <a:ea typeface="Arial"/>
                <a:cs typeface="Arial"/>
                <a:sym typeface="Arial"/>
              </a:rPr>
              <a:t> – for presentation and documentation.</a:t>
            </a:r>
            <a:br>
              <a:rPr lang="en-US" sz="2000">
                <a:latin typeface="Arial"/>
                <a:ea typeface="Arial"/>
                <a:cs typeface="Arial"/>
                <a:sym typeface="Arial"/>
              </a:rPr>
            </a:br>
            <a:endParaRPr sz="2000">
              <a:latin typeface="Arial"/>
              <a:ea typeface="Arial"/>
              <a:cs typeface="Arial"/>
              <a:sym typeface="Arial"/>
            </a:endParaRPr>
          </a:p>
          <a:p>
            <a:pPr indent="-342900" lvl="0" marL="342900" rtl="0" algn="l">
              <a:spcBef>
                <a:spcPts val="0"/>
              </a:spcBef>
              <a:spcAft>
                <a:spcPts val="0"/>
              </a:spcAft>
              <a:buClr>
                <a:schemeClr val="dk1"/>
              </a:buClr>
              <a:buSzPts val="1100"/>
              <a:buFont typeface="Arial"/>
              <a:buNone/>
            </a:pPr>
            <a:r>
              <a:rPr b="1" lang="en-US" sz="2000">
                <a:latin typeface="Arial"/>
                <a:ea typeface="Arial"/>
                <a:cs typeface="Arial"/>
                <a:sym typeface="Arial"/>
              </a:rPr>
              <a:t>Web Browsers (Chrome/Edge)</a:t>
            </a:r>
            <a:r>
              <a:rPr lang="en-US" sz="2000">
                <a:latin typeface="Arial"/>
                <a:ea typeface="Arial"/>
                <a:cs typeface="Arial"/>
                <a:sym typeface="Arial"/>
              </a:rPr>
              <a:t> – used to access arXiv, Google Scholar, and open-access research papers.</a:t>
            </a:r>
            <a:endParaRPr sz="2000">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None/>
            </a:pPr>
            <a:r>
              <a:t/>
            </a:r>
            <a:endParaRPr sz="2000">
              <a:solidFill>
                <a:srgbClr val="000000"/>
              </a:solidFill>
              <a:latin typeface="Times New Roman"/>
              <a:ea typeface="Times New Roman"/>
              <a:cs typeface="Times New Roman"/>
              <a:sym typeface="Times New Roman"/>
            </a:endParaRPr>
          </a:p>
        </p:txBody>
      </p:sp>
      <p:sp>
        <p:nvSpPr>
          <p:cNvPr id="290" name="Google Shape;290;p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sp>
        <p:nvSpPr>
          <p:cNvPr id="291" name="Google Shape;291;p7"/>
          <p:cNvSpPr txBox="1"/>
          <p:nvPr/>
        </p:nvSpPr>
        <p:spPr>
          <a:xfrm>
            <a:off x="611187" y="2425700"/>
            <a:ext cx="758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t/>
            </a:r>
            <a:endParaRPr/>
          </a:p>
        </p:txBody>
      </p:sp>
      <p:pic>
        <p:nvPicPr>
          <p:cNvPr id="292" name="Google Shape;292;p7"/>
          <p:cNvPicPr preferRelativeResize="0"/>
          <p:nvPr/>
        </p:nvPicPr>
        <p:blipFill rotWithShape="1">
          <a:blip r:embed="rId3">
            <a:alphaModFix/>
          </a:blip>
          <a:srcRect b="0" l="0" r="0" t="0"/>
          <a:stretch/>
        </p:blipFill>
        <p:spPr>
          <a:xfrm>
            <a:off x="7172325" y="127000"/>
            <a:ext cx="1971675" cy="809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8"/>
          <p:cNvSpPr txBox="1"/>
          <p:nvPr>
            <p:ph type="title"/>
          </p:nvPr>
        </p:nvSpPr>
        <p:spPr>
          <a:xfrm>
            <a:off x="457200" y="836612"/>
            <a:ext cx="8229600" cy="581025"/>
          </a:xfrm>
          <a:prstGeom prst="rect">
            <a:avLst/>
          </a:prstGeom>
          <a:noFill/>
          <a:ln>
            <a:noFill/>
          </a:ln>
        </p:spPr>
        <p:txBody>
          <a:bodyPr anchorCtr="0" anchor="ctr" bIns="45700" lIns="91425" spcFirstLastPara="1" rIns="91425" wrap="square" tIns="45700">
            <a:noAutofit/>
          </a:bodyPr>
          <a:lstStyle/>
          <a:p>
            <a:pPr indent="-457200" lvl="0" marL="45720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Identification of tools/technology/algorithms</a:t>
            </a:r>
            <a:endParaRPr/>
          </a:p>
        </p:txBody>
      </p:sp>
      <p:sp>
        <p:nvSpPr>
          <p:cNvPr id="298" name="Google Shape;298;p8"/>
          <p:cNvSpPr txBox="1"/>
          <p:nvPr>
            <p:ph idx="1" type="body"/>
          </p:nvPr>
        </p:nvSpPr>
        <p:spPr>
          <a:xfrm>
            <a:off x="457200" y="1696898"/>
            <a:ext cx="8229600" cy="4776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Artificial Intelligence (AI)</a:t>
            </a:r>
            <a:r>
              <a:rPr lang="en-US" sz="1900">
                <a:latin typeface="Arial"/>
                <a:ea typeface="Arial"/>
                <a:cs typeface="Arial"/>
                <a:sym typeface="Arial"/>
              </a:rPr>
              <a:t> – specifically Natural Language Processing (NLP) for understanding user behavior and mental health patterns from text.</a:t>
            </a:r>
            <a:br>
              <a:rPr lang="en-US" sz="1900">
                <a:latin typeface="Arial"/>
                <a:ea typeface="Arial"/>
                <a:cs typeface="Arial"/>
                <a:sym typeface="Arial"/>
              </a:rPr>
            </a:br>
            <a:endParaRPr sz="1900">
              <a:latin typeface="Arial"/>
              <a:ea typeface="Arial"/>
              <a:cs typeface="Arial"/>
              <a:sym typeface="Arial"/>
            </a:endParaRPr>
          </a:p>
          <a:p>
            <a:pPr indent="-34290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Machine Learning (ML)</a:t>
            </a:r>
            <a:r>
              <a:rPr lang="en-US" sz="1900">
                <a:latin typeface="Arial"/>
                <a:ea typeface="Arial"/>
                <a:cs typeface="Arial"/>
                <a:sym typeface="Arial"/>
              </a:rPr>
              <a:t> – models applied in reviewed studies for classification of mental health conditions.</a:t>
            </a:r>
            <a:br>
              <a:rPr lang="en-US" sz="1900">
                <a:latin typeface="Arial"/>
                <a:ea typeface="Arial"/>
                <a:cs typeface="Arial"/>
                <a:sym typeface="Arial"/>
              </a:rPr>
            </a:br>
            <a:endParaRPr sz="1900">
              <a:latin typeface="Arial"/>
              <a:ea typeface="Arial"/>
              <a:cs typeface="Arial"/>
              <a:sym typeface="Arial"/>
            </a:endParaRPr>
          </a:p>
          <a:p>
            <a:pPr indent="-34290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Deep Learning (DL)</a:t>
            </a:r>
            <a:r>
              <a:rPr lang="en-US" sz="1900">
                <a:latin typeface="Arial"/>
                <a:ea typeface="Arial"/>
                <a:cs typeface="Arial"/>
                <a:sym typeface="Arial"/>
              </a:rPr>
              <a:t> – neural network–based architectures for improved accuracy.</a:t>
            </a:r>
            <a:br>
              <a:rPr lang="en-US" sz="1900">
                <a:latin typeface="Arial"/>
                <a:ea typeface="Arial"/>
                <a:cs typeface="Arial"/>
                <a:sym typeface="Arial"/>
              </a:rPr>
            </a:br>
            <a:endParaRPr sz="1900">
              <a:latin typeface="Arial"/>
              <a:ea typeface="Arial"/>
              <a:cs typeface="Arial"/>
              <a:sym typeface="Arial"/>
            </a:endParaRPr>
          </a:p>
          <a:p>
            <a:pPr indent="-34290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Generative AI (GAI)</a:t>
            </a:r>
            <a:r>
              <a:rPr lang="en-US" sz="1900">
                <a:latin typeface="Arial"/>
                <a:ea typeface="Arial"/>
                <a:cs typeface="Arial"/>
                <a:sym typeface="Arial"/>
              </a:rPr>
              <a:t> – models like ChatGPT, used in youth interactions and risk analysis.</a:t>
            </a:r>
            <a:br>
              <a:rPr lang="en-US" sz="1900">
                <a:latin typeface="Arial"/>
                <a:ea typeface="Arial"/>
                <a:cs typeface="Arial"/>
                <a:sym typeface="Arial"/>
              </a:rPr>
            </a:br>
            <a:endParaRPr sz="1900">
              <a:latin typeface="Arial"/>
              <a:ea typeface="Arial"/>
              <a:cs typeface="Arial"/>
              <a:sym typeface="Arial"/>
            </a:endParaRPr>
          </a:p>
          <a:p>
            <a:pPr indent="-342900" lvl="0" marL="342900" rtl="0" algn="l">
              <a:spcBef>
                <a:spcPts val="0"/>
              </a:spcBef>
              <a:spcAft>
                <a:spcPts val="0"/>
              </a:spcAft>
              <a:buClr>
                <a:schemeClr val="dk1"/>
              </a:buClr>
              <a:buSzPts val="1100"/>
              <a:buFont typeface="Arial"/>
              <a:buNone/>
            </a:pPr>
            <a:r>
              <a:rPr b="1" lang="en-US" sz="1900">
                <a:latin typeface="Arial"/>
                <a:ea typeface="Arial"/>
                <a:cs typeface="Arial"/>
                <a:sym typeface="Arial"/>
              </a:rPr>
              <a:t>Algorithmic Social Media Systems</a:t>
            </a:r>
            <a:r>
              <a:rPr lang="en-US" sz="1900">
                <a:latin typeface="Arial"/>
                <a:ea typeface="Arial"/>
                <a:cs typeface="Arial"/>
                <a:sym typeface="Arial"/>
              </a:rPr>
              <a:t> – recommendation systems, feed algorithms, and personalization engines used by platforms like Instagram, TikTok, and YouTube.</a:t>
            </a:r>
            <a:endParaRPr sz="1900">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None/>
            </a:pPr>
            <a:r>
              <a:t/>
            </a:r>
            <a:endParaRPr sz="2000">
              <a:solidFill>
                <a:srgbClr val="000000"/>
              </a:solidFill>
              <a:latin typeface="Times New Roman"/>
              <a:ea typeface="Times New Roman"/>
              <a:cs typeface="Times New Roman"/>
              <a:sym typeface="Times New Roman"/>
            </a:endParaRPr>
          </a:p>
        </p:txBody>
      </p:sp>
      <p:sp>
        <p:nvSpPr>
          <p:cNvPr id="299" name="Google Shape;299;p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sp>
        <p:nvSpPr>
          <p:cNvPr id="300" name="Google Shape;300;p8"/>
          <p:cNvSpPr txBox="1"/>
          <p:nvPr/>
        </p:nvSpPr>
        <p:spPr>
          <a:xfrm>
            <a:off x="684212" y="2178050"/>
            <a:ext cx="1584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t/>
            </a:r>
            <a:endParaRPr/>
          </a:p>
        </p:txBody>
      </p:sp>
      <p:pic>
        <p:nvPicPr>
          <p:cNvPr id="301" name="Google Shape;301;p8"/>
          <p:cNvPicPr preferRelativeResize="0"/>
          <p:nvPr/>
        </p:nvPicPr>
        <p:blipFill rotWithShape="1">
          <a:blip r:embed="rId3">
            <a:alphaModFix/>
          </a:blip>
          <a:srcRect b="0" l="0" r="0" t="0"/>
          <a:stretch/>
        </p:blipFill>
        <p:spPr>
          <a:xfrm>
            <a:off x="7172325" y="127000"/>
            <a:ext cx="1971675" cy="809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457200" lvl="0" marL="45720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Identification of tools/technology/algorithms</a:t>
            </a:r>
            <a:endParaRPr/>
          </a:p>
        </p:txBody>
      </p:sp>
      <p:sp>
        <p:nvSpPr>
          <p:cNvPr id="307" name="Google Shape;307;p9"/>
          <p:cNvSpPr txBox="1"/>
          <p:nvPr>
            <p:ph idx="1" type="body"/>
          </p:nvPr>
        </p:nvSpPr>
        <p:spPr>
          <a:xfrm>
            <a:off x="457200" y="1235075"/>
            <a:ext cx="8229600" cy="5206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US" sz="2000">
                <a:latin typeface="Arial"/>
                <a:ea typeface="Arial"/>
                <a:cs typeface="Arial"/>
                <a:sym typeface="Arial"/>
              </a:rPr>
              <a:t>From Research Paper 1 (ML for Mental Illness Detection)</a:t>
            </a:r>
            <a:endParaRPr sz="2000">
              <a:latin typeface="Arial"/>
              <a:ea typeface="Arial"/>
              <a:cs typeface="Arial"/>
              <a:sym typeface="Arial"/>
            </a:endParaRPr>
          </a:p>
          <a:p>
            <a:pPr indent="-349250" lvl="0" marL="457200" rtl="0" algn="l">
              <a:lnSpc>
                <a:spcPct val="115000"/>
              </a:lnSpc>
              <a:spcBef>
                <a:spcPts val="1200"/>
              </a:spcBef>
              <a:spcAft>
                <a:spcPts val="0"/>
              </a:spcAft>
              <a:buSzPts val="1900"/>
              <a:buChar char="●"/>
            </a:pPr>
            <a:r>
              <a:rPr lang="en-US" sz="1900">
                <a:latin typeface="Arial"/>
                <a:ea typeface="Arial"/>
                <a:cs typeface="Arial"/>
                <a:sym typeface="Arial"/>
              </a:rPr>
              <a:t>SVM (Support Vector Machine)</a:t>
            </a:r>
            <a:br>
              <a:rPr lang="en-U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Random Forest Classifier</a:t>
            </a:r>
            <a:br>
              <a:rPr lang="en-U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CNN (Convolutional Neural Network)</a:t>
            </a:r>
            <a:br>
              <a:rPr lang="en-U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RNN/LSTM (Recurrent Neural Networks)</a:t>
            </a:r>
            <a:br>
              <a:rPr lang="en-U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Transformer Models (BERT, RoBERTa) ← highest performance</a:t>
            </a:r>
            <a:br>
              <a:rPr lang="en-U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Text Feature Algorithms:</a:t>
            </a:r>
            <a:endParaRPr sz="1900">
              <a:latin typeface="Arial"/>
              <a:ea typeface="Arial"/>
              <a:cs typeface="Arial"/>
              <a:sym typeface="Arial"/>
            </a:endParaRPr>
          </a:p>
          <a:p>
            <a:pPr indent="-349250" lvl="1" marL="914400" rtl="0" algn="l">
              <a:lnSpc>
                <a:spcPct val="115000"/>
              </a:lnSpc>
              <a:spcBef>
                <a:spcPts val="0"/>
              </a:spcBef>
              <a:spcAft>
                <a:spcPts val="0"/>
              </a:spcAft>
              <a:buSzPts val="1900"/>
              <a:buChar char="○"/>
            </a:pPr>
            <a:r>
              <a:rPr lang="en-US" sz="1900">
                <a:latin typeface="Arial"/>
                <a:ea typeface="Arial"/>
                <a:cs typeface="Arial"/>
                <a:sym typeface="Arial"/>
              </a:rPr>
              <a:t>Bag-of-Words (BoW)</a:t>
            </a:r>
            <a:endParaRPr sz="1900">
              <a:latin typeface="Arial"/>
              <a:ea typeface="Arial"/>
              <a:cs typeface="Arial"/>
              <a:sym typeface="Arial"/>
            </a:endParaRPr>
          </a:p>
          <a:p>
            <a:pPr indent="-349250" lvl="1" marL="914400" rtl="0" algn="l">
              <a:lnSpc>
                <a:spcPct val="115000"/>
              </a:lnSpc>
              <a:spcBef>
                <a:spcPts val="0"/>
              </a:spcBef>
              <a:spcAft>
                <a:spcPts val="0"/>
              </a:spcAft>
              <a:buSzPts val="1900"/>
              <a:buChar char="○"/>
            </a:pPr>
            <a:r>
              <a:rPr lang="en-US" sz="1900">
                <a:latin typeface="Arial"/>
                <a:ea typeface="Arial"/>
                <a:cs typeface="Arial"/>
                <a:sym typeface="Arial"/>
              </a:rPr>
              <a:t>TF–IDF</a:t>
            </a:r>
            <a:endParaRPr sz="1900">
              <a:latin typeface="Arial"/>
              <a:ea typeface="Arial"/>
              <a:cs typeface="Arial"/>
              <a:sym typeface="Arial"/>
            </a:endParaRPr>
          </a:p>
          <a:p>
            <a:pPr indent="-349250" lvl="1" marL="914400" rtl="0" algn="l">
              <a:lnSpc>
                <a:spcPct val="115000"/>
              </a:lnSpc>
              <a:spcBef>
                <a:spcPts val="0"/>
              </a:spcBef>
              <a:spcAft>
                <a:spcPts val="0"/>
              </a:spcAft>
              <a:buSzPts val="1900"/>
              <a:buChar char="○"/>
            </a:pPr>
            <a:r>
              <a:rPr lang="en-US" sz="1900">
                <a:latin typeface="Arial"/>
                <a:ea typeface="Arial"/>
                <a:cs typeface="Arial"/>
                <a:sym typeface="Arial"/>
              </a:rPr>
              <a:t>Word2Vec / GloVe embeddings</a:t>
            </a:r>
            <a:endParaRPr sz="1900">
              <a:latin typeface="Arial"/>
              <a:ea typeface="Arial"/>
              <a:cs typeface="Arial"/>
              <a:sym typeface="Arial"/>
            </a:endParaRPr>
          </a:p>
          <a:p>
            <a:pPr indent="-342900" lvl="0" marL="342900" marR="0" rtl="0" algn="l">
              <a:lnSpc>
                <a:spcPct val="100000"/>
              </a:lnSpc>
              <a:spcBef>
                <a:spcPts val="1200"/>
              </a:spcBef>
              <a:spcAft>
                <a:spcPts val="0"/>
              </a:spcAft>
              <a:buClr>
                <a:srgbClr val="000000"/>
              </a:buClr>
              <a:buSzPts val="2000"/>
              <a:buFont typeface="Arial"/>
              <a:buNone/>
            </a:pPr>
            <a:r>
              <a:t/>
            </a:r>
            <a:endParaRPr sz="2000">
              <a:solidFill>
                <a:srgbClr val="000000"/>
              </a:solidFill>
              <a:latin typeface="Times New Roman"/>
              <a:ea typeface="Times New Roman"/>
              <a:cs typeface="Times New Roman"/>
              <a:sym typeface="Times New Roman"/>
            </a:endParaRPr>
          </a:p>
        </p:txBody>
      </p:sp>
      <p:sp>
        <p:nvSpPr>
          <p:cNvPr id="308" name="Google Shape;308;p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sp>
        <p:nvSpPr>
          <p:cNvPr id="309" name="Google Shape;309;p9"/>
          <p:cNvSpPr txBox="1"/>
          <p:nvPr/>
        </p:nvSpPr>
        <p:spPr>
          <a:xfrm>
            <a:off x="684212" y="1844675"/>
            <a:ext cx="1420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a8f1a271ed_0_1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l">
              <a:lnSpc>
                <a:spcPct val="115000"/>
              </a:lnSpc>
              <a:spcBef>
                <a:spcPts val="1400"/>
              </a:spcBef>
              <a:spcAft>
                <a:spcPts val="0"/>
              </a:spcAft>
              <a:buNone/>
            </a:pPr>
            <a:r>
              <a:t/>
            </a:r>
            <a:endParaRPr b="1" sz="25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500">
                <a:latin typeface="Arial"/>
                <a:ea typeface="Arial"/>
                <a:cs typeface="Arial"/>
                <a:sym typeface="Arial"/>
              </a:rPr>
              <a:t>From Research Paper 2 (AI vs Human Peer Support)</a:t>
            </a:r>
            <a:endParaRPr b="1" sz="2500">
              <a:latin typeface="Arial"/>
              <a:ea typeface="Arial"/>
              <a:cs typeface="Arial"/>
              <a:sym typeface="Arial"/>
            </a:endParaRPr>
          </a:p>
          <a:p>
            <a:pPr indent="0" lvl="0" marL="0" rtl="0" algn="ctr">
              <a:spcBef>
                <a:spcPts val="400"/>
              </a:spcBef>
              <a:spcAft>
                <a:spcPts val="0"/>
              </a:spcAft>
              <a:buNone/>
            </a:pPr>
            <a:r>
              <a:t/>
            </a:r>
            <a:endParaRPr/>
          </a:p>
        </p:txBody>
      </p:sp>
      <p:sp>
        <p:nvSpPr>
          <p:cNvPr id="316" name="Google Shape;316;g3a8f1a271ed_0_1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55600" lvl="0" marL="457200" rtl="0" algn="l">
              <a:lnSpc>
                <a:spcPct val="115000"/>
              </a:lnSpc>
              <a:spcBef>
                <a:spcPts val="1200"/>
              </a:spcBef>
              <a:spcAft>
                <a:spcPts val="0"/>
              </a:spcAft>
              <a:buSzPts val="2000"/>
              <a:buChar char="●"/>
            </a:pPr>
            <a:r>
              <a:rPr lang="en-US" sz="2000">
                <a:latin typeface="Arial"/>
                <a:ea typeface="Arial"/>
                <a:cs typeface="Arial"/>
                <a:sym typeface="Arial"/>
              </a:rPr>
              <a:t>No ML algorithm used</a:t>
            </a:r>
            <a:br>
              <a:rPr b="1" lang="en-US" sz="2000">
                <a:latin typeface="Arial"/>
                <a:ea typeface="Arial"/>
                <a:cs typeface="Arial"/>
                <a:sym typeface="Arial"/>
              </a:rPr>
            </a:br>
            <a:r>
              <a:rPr lang="en-US" sz="2000">
                <a:latin typeface="Arial"/>
                <a:ea typeface="Arial"/>
                <a:cs typeface="Arial"/>
                <a:sym typeface="Arial"/>
              </a:rPr>
              <a:t> Uses:</a:t>
            </a:r>
            <a:br>
              <a:rPr lang="en-US" sz="2000">
                <a:latin typeface="Arial"/>
                <a:ea typeface="Arial"/>
                <a:cs typeface="Arial"/>
                <a:sym typeface="Arial"/>
              </a:rPr>
            </a:br>
            <a:endParaRPr sz="2000">
              <a:latin typeface="Arial"/>
              <a:ea typeface="Arial"/>
              <a:cs typeface="Arial"/>
              <a:sym typeface="Arial"/>
            </a:endParaRPr>
          </a:p>
          <a:p>
            <a:pPr indent="-355600" lvl="1" marL="914400" rtl="0" algn="l">
              <a:lnSpc>
                <a:spcPct val="115000"/>
              </a:lnSpc>
              <a:spcBef>
                <a:spcPts val="0"/>
              </a:spcBef>
              <a:spcAft>
                <a:spcPts val="0"/>
              </a:spcAft>
              <a:buSzPts val="2000"/>
              <a:buChar char="○"/>
            </a:pPr>
            <a:r>
              <a:rPr lang="en-US" sz="2000">
                <a:latin typeface="Arial"/>
                <a:ea typeface="Arial"/>
                <a:cs typeface="Arial"/>
                <a:sym typeface="Arial"/>
              </a:rPr>
              <a:t>Statistical Analysis</a:t>
            </a:r>
            <a:br>
              <a:rPr lang="en-US" sz="2000">
                <a:latin typeface="Arial"/>
                <a:ea typeface="Arial"/>
                <a:cs typeface="Arial"/>
                <a:sym typeface="Arial"/>
              </a:rPr>
            </a:br>
            <a:endParaRPr sz="2000">
              <a:latin typeface="Arial"/>
              <a:ea typeface="Arial"/>
              <a:cs typeface="Arial"/>
              <a:sym typeface="Arial"/>
            </a:endParaRPr>
          </a:p>
          <a:p>
            <a:pPr indent="-355600" lvl="1" marL="914400" rtl="0" algn="l">
              <a:lnSpc>
                <a:spcPct val="115000"/>
              </a:lnSpc>
              <a:spcBef>
                <a:spcPts val="0"/>
              </a:spcBef>
              <a:spcAft>
                <a:spcPts val="0"/>
              </a:spcAft>
              <a:buSzPts val="2000"/>
              <a:buChar char="○"/>
            </a:pPr>
            <a:r>
              <a:rPr lang="en-US" sz="2000">
                <a:latin typeface="Arial"/>
                <a:ea typeface="Arial"/>
                <a:cs typeface="Arial"/>
                <a:sym typeface="Arial"/>
              </a:rPr>
              <a:t>User preference modeling</a:t>
            </a:r>
            <a:br>
              <a:rPr lang="en-US" sz="2000">
                <a:latin typeface="Arial"/>
                <a:ea typeface="Arial"/>
                <a:cs typeface="Arial"/>
                <a:sym typeface="Arial"/>
              </a:rPr>
            </a:br>
            <a:endParaRPr sz="2000">
              <a:latin typeface="Arial"/>
              <a:ea typeface="Arial"/>
              <a:cs typeface="Arial"/>
              <a:sym typeface="Arial"/>
            </a:endParaRPr>
          </a:p>
          <a:p>
            <a:pPr indent="-355600" lvl="1" marL="914400" rtl="0" algn="l">
              <a:lnSpc>
                <a:spcPct val="115000"/>
              </a:lnSpc>
              <a:spcBef>
                <a:spcPts val="0"/>
              </a:spcBef>
              <a:spcAft>
                <a:spcPts val="0"/>
              </a:spcAft>
              <a:buSzPts val="2000"/>
              <a:buChar char="○"/>
            </a:pPr>
            <a:r>
              <a:rPr lang="en-US" sz="2000">
                <a:latin typeface="Arial"/>
                <a:ea typeface="Arial"/>
                <a:cs typeface="Arial"/>
                <a:sym typeface="Arial"/>
              </a:rPr>
              <a:t>Thematic coding of youth responses</a:t>
            </a:r>
            <a:endParaRPr sz="2000">
              <a:latin typeface="Arial"/>
              <a:ea typeface="Arial"/>
              <a:cs typeface="Arial"/>
              <a:sym typeface="Arial"/>
            </a:endParaRPr>
          </a:p>
          <a:p>
            <a:pPr indent="0" lvl="0" marL="0" rtl="0" algn="l">
              <a:spcBef>
                <a:spcPts val="1200"/>
              </a:spcBef>
              <a:spcAft>
                <a:spcPts val="0"/>
              </a:spcAft>
              <a:buNone/>
            </a:pPr>
            <a:r>
              <a:t/>
            </a:r>
            <a:endParaRPr/>
          </a:p>
        </p:txBody>
      </p:sp>
      <p:sp>
        <p:nvSpPr>
          <p:cNvPr id="317" name="Google Shape;317;g3a8f1a271ed_0_1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a8f1a271ed_0_17"/>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l">
              <a:lnSpc>
                <a:spcPct val="115000"/>
              </a:lnSpc>
              <a:spcBef>
                <a:spcPts val="1400"/>
              </a:spcBef>
              <a:spcAft>
                <a:spcPts val="0"/>
              </a:spcAft>
              <a:buNone/>
            </a:pPr>
            <a:r>
              <a:t/>
            </a:r>
            <a:endParaRPr b="1" sz="23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300">
                <a:latin typeface="Arial"/>
                <a:ea typeface="Arial"/>
                <a:cs typeface="Arial"/>
                <a:sym typeface="Arial"/>
              </a:rPr>
              <a:t>From Research Paper 3 (Generative AI Risks Taxonomy)</a:t>
            </a:r>
            <a:endParaRPr b="1" sz="2300">
              <a:latin typeface="Arial"/>
              <a:ea typeface="Arial"/>
              <a:cs typeface="Arial"/>
              <a:sym typeface="Arial"/>
            </a:endParaRPr>
          </a:p>
          <a:p>
            <a:pPr indent="0" lvl="0" marL="0" rtl="0" algn="ctr">
              <a:spcBef>
                <a:spcPts val="400"/>
              </a:spcBef>
              <a:spcAft>
                <a:spcPts val="0"/>
              </a:spcAft>
              <a:buNone/>
            </a:pPr>
            <a:r>
              <a:t/>
            </a:r>
            <a:endParaRPr/>
          </a:p>
        </p:txBody>
      </p:sp>
      <p:sp>
        <p:nvSpPr>
          <p:cNvPr id="324" name="Google Shape;324;g3a8f1a271ed_0_17"/>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61950" lvl="0" marL="457200" rtl="0" algn="l">
              <a:lnSpc>
                <a:spcPct val="115000"/>
              </a:lnSpc>
              <a:spcBef>
                <a:spcPts val="1200"/>
              </a:spcBef>
              <a:spcAft>
                <a:spcPts val="0"/>
              </a:spcAft>
              <a:buSzPts val="2100"/>
              <a:buChar char="●"/>
            </a:pPr>
            <a:r>
              <a:rPr lang="en-US" sz="2100">
                <a:latin typeface="Arial"/>
                <a:ea typeface="Arial"/>
                <a:cs typeface="Arial"/>
                <a:sym typeface="Arial"/>
              </a:rPr>
              <a:t>Qualitative coding algorithms</a:t>
            </a:r>
            <a:br>
              <a:rPr lang="en-US" sz="2100">
                <a:latin typeface="Arial"/>
                <a:ea typeface="Arial"/>
                <a:cs typeface="Arial"/>
                <a:sym typeface="Arial"/>
              </a:rPr>
            </a:b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Taxonomy mapping</a:t>
            </a:r>
            <a:br>
              <a:rPr lang="en-US" sz="2100">
                <a:latin typeface="Arial"/>
                <a:ea typeface="Arial"/>
                <a:cs typeface="Arial"/>
                <a:sym typeface="Arial"/>
              </a:rPr>
            </a:b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Hierarchical risk classification</a:t>
            </a:r>
            <a:br>
              <a:rPr lang="en-US" sz="2100">
                <a:latin typeface="Arial"/>
                <a:ea typeface="Arial"/>
                <a:cs typeface="Arial"/>
                <a:sym typeface="Arial"/>
              </a:rPr>
            </a:br>
            <a:endParaRPr sz="2100">
              <a:latin typeface="Arial"/>
              <a:ea typeface="Arial"/>
              <a:cs typeface="Arial"/>
              <a:sym typeface="Arial"/>
            </a:endParaRPr>
          </a:p>
          <a:p>
            <a:pPr indent="-368300" lvl="0" marL="457200" rtl="0" algn="l">
              <a:lnSpc>
                <a:spcPct val="115000"/>
              </a:lnSpc>
              <a:spcBef>
                <a:spcPts val="0"/>
              </a:spcBef>
              <a:spcAft>
                <a:spcPts val="0"/>
              </a:spcAft>
              <a:buSzPts val="2200"/>
              <a:buChar char="●"/>
            </a:pPr>
            <a:r>
              <a:rPr lang="en-US" sz="2100">
                <a:latin typeface="Arial"/>
                <a:ea typeface="Arial"/>
                <a:cs typeface="Arial"/>
                <a:sym typeface="Arial"/>
              </a:rPr>
              <a:t>Frequency Distribution Analysis</a:t>
            </a:r>
            <a:br>
              <a:rPr b="1" lang="en-US" sz="2200">
                <a:latin typeface="Arial"/>
                <a:ea typeface="Arial"/>
                <a:cs typeface="Arial"/>
                <a:sym typeface="Arial"/>
              </a:rPr>
            </a:br>
            <a:endParaRPr b="1" sz="22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200">
                <a:latin typeface="Arial"/>
                <a:ea typeface="Arial"/>
                <a:cs typeface="Arial"/>
                <a:sym typeface="Arial"/>
              </a:rPr>
              <a:t>(Used for building the 6-family, 84-risk taxonomy.)</a:t>
            </a:r>
            <a:endParaRPr sz="2200">
              <a:latin typeface="Arial"/>
              <a:ea typeface="Arial"/>
              <a:cs typeface="Arial"/>
              <a:sym typeface="Arial"/>
            </a:endParaRPr>
          </a:p>
          <a:p>
            <a:pPr indent="0" lvl="0" marL="0" rtl="0" algn="l">
              <a:spcBef>
                <a:spcPts val="1200"/>
              </a:spcBef>
              <a:spcAft>
                <a:spcPts val="0"/>
              </a:spcAft>
              <a:buNone/>
            </a:pPr>
            <a:r>
              <a:t/>
            </a:r>
            <a:endParaRPr/>
          </a:p>
        </p:txBody>
      </p:sp>
      <p:sp>
        <p:nvSpPr>
          <p:cNvPr id="325" name="Google Shape;325;g3a8f1a271ed_0_1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3a8f1a271ed_0_24"/>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l">
              <a:lnSpc>
                <a:spcPct val="115000"/>
              </a:lnSpc>
              <a:spcBef>
                <a:spcPts val="1400"/>
              </a:spcBef>
              <a:spcAft>
                <a:spcPts val="0"/>
              </a:spcAft>
              <a:buNone/>
            </a:pPr>
            <a:r>
              <a:t/>
            </a:r>
            <a:endParaRPr b="1" sz="25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500">
                <a:latin typeface="Arial"/>
                <a:ea typeface="Arial"/>
                <a:cs typeface="Arial"/>
                <a:sym typeface="Arial"/>
              </a:rPr>
              <a:t>From Research Paper 4 (Psychological Impacts of Algorithmic Social Media)</a:t>
            </a:r>
            <a:endParaRPr b="1" sz="2500">
              <a:latin typeface="Arial"/>
              <a:ea typeface="Arial"/>
              <a:cs typeface="Arial"/>
              <a:sym typeface="Arial"/>
            </a:endParaRPr>
          </a:p>
          <a:p>
            <a:pPr indent="0" lvl="0" marL="0" rtl="0" algn="ctr">
              <a:spcBef>
                <a:spcPts val="400"/>
              </a:spcBef>
              <a:spcAft>
                <a:spcPts val="0"/>
              </a:spcAft>
              <a:buNone/>
            </a:pPr>
            <a:r>
              <a:t/>
            </a:r>
            <a:endParaRPr/>
          </a:p>
        </p:txBody>
      </p:sp>
      <p:sp>
        <p:nvSpPr>
          <p:cNvPr id="332" name="Google Shape;332;g3a8f1a271ed_0_24"/>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b="1" sz="2000">
              <a:latin typeface="Arial"/>
              <a:ea typeface="Arial"/>
              <a:cs typeface="Arial"/>
              <a:sym typeface="Arial"/>
            </a:endParaRPr>
          </a:p>
          <a:p>
            <a:pPr indent="0" lvl="0" marL="0" rtl="0" algn="l">
              <a:spcBef>
                <a:spcPts val="360"/>
              </a:spcBef>
              <a:spcAft>
                <a:spcPts val="0"/>
              </a:spcAft>
              <a:buNone/>
            </a:pPr>
            <a:r>
              <a:t/>
            </a:r>
            <a:endParaRPr b="1" sz="20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2000">
                <a:latin typeface="Arial"/>
                <a:ea typeface="Arial"/>
                <a:cs typeface="Arial"/>
                <a:sym typeface="Arial"/>
              </a:rPr>
              <a:t>Algorithmic Recommendation Systems</a:t>
            </a:r>
            <a:br>
              <a:rPr b="1" lang="en-US" sz="2000">
                <a:latin typeface="Arial"/>
                <a:ea typeface="Arial"/>
                <a:cs typeface="Arial"/>
                <a:sym typeface="Arial"/>
              </a:rPr>
            </a:br>
            <a:r>
              <a:rPr lang="en-US" sz="2000">
                <a:latin typeface="Arial"/>
                <a:ea typeface="Arial"/>
                <a:cs typeface="Arial"/>
                <a:sym typeface="Arial"/>
              </a:rPr>
              <a:t> (e.g., content ranking, feed optimization)</a:t>
            </a:r>
            <a:br>
              <a:rPr lang="en-US" sz="2000">
                <a:latin typeface="Arial"/>
                <a:ea typeface="Arial"/>
                <a:cs typeface="Arial"/>
                <a:sym typeface="Arial"/>
              </a:rPr>
            </a:br>
            <a:endParaRPr sz="20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2000">
                <a:latin typeface="Arial"/>
                <a:ea typeface="Arial"/>
                <a:cs typeface="Arial"/>
                <a:sym typeface="Arial"/>
              </a:rPr>
              <a:t>Persuasive Technology Algorithms</a:t>
            </a:r>
            <a:br>
              <a:rPr b="1" lang="en-US" sz="2000">
                <a:latin typeface="Arial"/>
                <a:ea typeface="Arial"/>
                <a:cs typeface="Arial"/>
                <a:sym typeface="Arial"/>
              </a:rPr>
            </a:br>
            <a:r>
              <a:rPr lang="en-US" sz="2000">
                <a:latin typeface="Arial"/>
                <a:ea typeface="Arial"/>
                <a:cs typeface="Arial"/>
                <a:sym typeface="Arial"/>
              </a:rPr>
              <a:t> (like notification triggers, engagement loops)</a:t>
            </a:r>
            <a:br>
              <a:rPr lang="en-US" sz="2000">
                <a:latin typeface="Arial"/>
                <a:ea typeface="Arial"/>
                <a:cs typeface="Arial"/>
                <a:sym typeface="Arial"/>
              </a:rPr>
            </a:br>
            <a:endParaRPr sz="20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2000">
                <a:latin typeface="Arial"/>
                <a:ea typeface="Arial"/>
                <a:cs typeface="Arial"/>
                <a:sym typeface="Arial"/>
              </a:rPr>
              <a:t>User Behavior Modeling</a:t>
            </a:r>
            <a:br>
              <a:rPr b="1" lang="en-US" sz="2000">
                <a:latin typeface="Arial"/>
                <a:ea typeface="Arial"/>
                <a:cs typeface="Arial"/>
                <a:sym typeface="Arial"/>
              </a:rPr>
            </a:br>
            <a:r>
              <a:rPr lang="en-US" sz="2000">
                <a:latin typeface="Arial"/>
                <a:ea typeface="Arial"/>
                <a:cs typeface="Arial"/>
                <a:sym typeface="Arial"/>
              </a:rPr>
              <a:t> (how teens respond to attention-grabbing systems)</a:t>
            </a:r>
            <a:endParaRPr sz="2000">
              <a:latin typeface="Arial"/>
              <a:ea typeface="Arial"/>
              <a:cs typeface="Arial"/>
              <a:sym typeface="Arial"/>
            </a:endParaRPr>
          </a:p>
          <a:p>
            <a:pPr indent="0" lvl="0" marL="0" rtl="0" algn="l">
              <a:spcBef>
                <a:spcPts val="360"/>
              </a:spcBef>
              <a:spcAft>
                <a:spcPts val="0"/>
              </a:spcAft>
              <a:buNone/>
            </a:pPr>
            <a:r>
              <a:t/>
            </a:r>
            <a:endParaRPr sz="2000"/>
          </a:p>
        </p:txBody>
      </p:sp>
      <p:sp>
        <p:nvSpPr>
          <p:cNvPr id="333" name="Google Shape;333;g3a8f1a271ed_0_2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a8f1a271ed_0_42"/>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a:t>Team Research</a:t>
            </a:r>
            <a:endParaRPr b="1"/>
          </a:p>
        </p:txBody>
      </p:sp>
      <p:sp>
        <p:nvSpPr>
          <p:cNvPr id="340" name="Google Shape;340;g3a8f1a271ed_0_42"/>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Link to Google Form: </a:t>
            </a:r>
            <a:br>
              <a:rPr lang="en-US"/>
            </a:br>
            <a:r>
              <a:rPr lang="en-US"/>
              <a:t>                                ↓</a:t>
            </a:r>
            <a:endParaRPr/>
          </a:p>
          <a:p>
            <a:pPr indent="0" lvl="0" marL="0" rtl="0" algn="l">
              <a:spcBef>
                <a:spcPts val="360"/>
              </a:spcBef>
              <a:spcAft>
                <a:spcPts val="0"/>
              </a:spcAft>
              <a:buNone/>
            </a:pPr>
            <a:r>
              <a:rPr lang="en-US" u="sng">
                <a:solidFill>
                  <a:schemeClr val="hlink"/>
                </a:solidFill>
                <a:hlinkClick r:id="rId3"/>
              </a:rPr>
              <a:t>Manually collected data from the college       students and friends.</a:t>
            </a:r>
            <a:endParaRPr/>
          </a:p>
        </p:txBody>
      </p:sp>
      <p:sp>
        <p:nvSpPr>
          <p:cNvPr id="341" name="Google Shape;341;g3a8f1a271ed_0_4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Times New Roman"/>
              <a:buNone/>
            </a:pPr>
            <a:r>
              <a:rPr b="1" lang="en-US" sz="2800">
                <a:latin typeface="Times New Roman"/>
                <a:ea typeface="Times New Roman"/>
                <a:cs typeface="Times New Roman"/>
                <a:sym typeface="Times New Roman"/>
              </a:rPr>
              <a:t>                             </a:t>
            </a:r>
            <a:r>
              <a:rPr b="1" i="0" lang="en-US" sz="2800" u="none">
                <a:solidFill>
                  <a:schemeClr val="dk1"/>
                </a:solidFill>
                <a:latin typeface="Times New Roman"/>
                <a:ea typeface="Times New Roman"/>
                <a:cs typeface="Times New Roman"/>
                <a:sym typeface="Times New Roman"/>
              </a:rPr>
              <a:t>Design Strategy</a:t>
            </a:r>
            <a:endParaRPr/>
          </a:p>
        </p:txBody>
      </p:sp>
      <p:sp>
        <p:nvSpPr>
          <p:cNvPr id="347" name="Google Shape;347;p12"/>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sp>
        <p:nvSpPr>
          <p:cNvPr id="348" name="Google Shape;348;p12"/>
          <p:cNvSpPr txBox="1"/>
          <p:nvPr/>
        </p:nvSpPr>
        <p:spPr>
          <a:xfrm>
            <a:off x="684200" y="1233475"/>
            <a:ext cx="8229600" cy="544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1" lang="en-US" sz="2000">
                <a:solidFill>
                  <a:schemeClr val="dk1"/>
                </a:solidFill>
                <a:latin typeface="Times New Roman"/>
                <a:ea typeface="Times New Roman"/>
                <a:cs typeface="Times New Roman"/>
                <a:sym typeface="Times New Roman"/>
              </a:rPr>
              <a:t>                               </a:t>
            </a:r>
            <a:r>
              <a:rPr b="1" i="0" lang="en-US" sz="1800" u="none">
                <a:solidFill>
                  <a:schemeClr val="dk1"/>
                </a:solidFill>
                <a:latin typeface="Times New Roman"/>
                <a:ea typeface="Times New Roman"/>
                <a:cs typeface="Times New Roman"/>
                <a:sym typeface="Times New Roman"/>
              </a:rPr>
              <a:t>Data Flow Diagram/ER Diagram                </a:t>
            </a:r>
            <a:endParaRPr b="1" i="0" sz="1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Times New Roman"/>
              <a:buNone/>
            </a:pPr>
            <a:r>
              <a:t/>
            </a:r>
            <a:endParaRPr b="1" sz="18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                </a:t>
            </a:r>
            <a:r>
              <a:rPr b="1" lang="en-US" sz="1700">
                <a:solidFill>
                  <a:schemeClr val="dk1"/>
                </a:solidFill>
                <a:latin typeface="Times New Roman"/>
                <a:ea typeface="Times New Roman"/>
                <a:cs typeface="Times New Roman"/>
                <a:sym typeface="Times New Roman"/>
              </a:rPr>
              <a:t>                               </a:t>
            </a:r>
            <a:r>
              <a:rPr b="1" i="0" lang="en-US" sz="1900" u="none">
                <a:solidFill>
                  <a:schemeClr val="dk1"/>
                </a:solidFill>
                <a:latin typeface="Times New Roman"/>
                <a:ea typeface="Times New Roman"/>
                <a:cs typeface="Times New Roman"/>
                <a:sym typeface="Times New Roman"/>
              </a:rPr>
              <a:t>Research Papers</a:t>
            </a:r>
            <a:endParaRPr b="1" i="0" sz="19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 Data Extraction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 Analysis &amp; Comparison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 Impact Ratio Evaluation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 Counseling Suggestions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i="0" lang="en-US" sz="1700" u="none">
                <a:solidFill>
                  <a:schemeClr val="dk1"/>
                </a:solidFill>
                <a:latin typeface="Times New Roman"/>
                <a:ea typeface="Times New Roman"/>
                <a:cs typeface="Times New Roman"/>
                <a:sym typeface="Times New Roman"/>
              </a:rPr>
              <a:t>                                             Final Output (PPT)</a:t>
            </a:r>
            <a:endParaRPr b="1" i="0" sz="1700" u="non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b="1" i="0" sz="1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Times New Roman"/>
              <a:buNone/>
            </a:pPr>
            <a:r>
              <a:t/>
            </a:r>
            <a:endParaRPr b="1" sz="1800">
              <a:solidFill>
                <a:schemeClr val="dk1"/>
              </a:solidFill>
              <a:latin typeface="Times New Roman"/>
              <a:ea typeface="Times New Roman"/>
              <a:cs typeface="Times New Roman"/>
              <a:sym typeface="Times New Roman"/>
            </a:endParaRPr>
          </a:p>
        </p:txBody>
      </p:sp>
      <p:pic>
        <p:nvPicPr>
          <p:cNvPr id="349" name="Google Shape;349;p12"/>
          <p:cNvPicPr preferRelativeResize="0"/>
          <p:nvPr/>
        </p:nvPicPr>
        <p:blipFill rotWithShape="1">
          <a:blip r:embed="rId3">
            <a:alphaModFix/>
          </a:blip>
          <a:srcRect b="0" l="0" r="0" t="0"/>
          <a:stretch/>
        </p:blipFill>
        <p:spPr>
          <a:xfrm>
            <a:off x="7172325" y="242887"/>
            <a:ext cx="1971675" cy="809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a91d11d088_1_0"/>
          <p:cNvSpPr txBox="1"/>
          <p:nvPr>
            <p:ph type="title"/>
          </p:nvPr>
        </p:nvSpPr>
        <p:spPr>
          <a:xfrm>
            <a:off x="4572000" y="429025"/>
            <a:ext cx="4371600" cy="3804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3800" u="sng"/>
              <a:t>UML (Use Case DIAGRAM)</a:t>
            </a:r>
            <a:endParaRPr b="1" sz="3800" u="sng"/>
          </a:p>
        </p:txBody>
      </p:sp>
      <p:sp>
        <p:nvSpPr>
          <p:cNvPr id="356" name="Google Shape;356;g3a91d11d088_1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pic>
        <p:nvPicPr>
          <p:cNvPr id="357" name="Google Shape;357;g3a91d11d088_1_0"/>
          <p:cNvPicPr preferRelativeResize="0"/>
          <p:nvPr/>
        </p:nvPicPr>
        <p:blipFill>
          <a:blip r:embed="rId3">
            <a:alphaModFix/>
          </a:blip>
          <a:stretch>
            <a:fillRect/>
          </a:stretch>
        </p:blipFill>
        <p:spPr>
          <a:xfrm>
            <a:off x="144025" y="131525"/>
            <a:ext cx="4932150" cy="62943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a91d11d088_1_8"/>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sz="3200" u="sng">
                <a:latin typeface="Arial"/>
                <a:ea typeface="Arial"/>
                <a:cs typeface="Arial"/>
                <a:sym typeface="Arial"/>
              </a:rPr>
              <a:t>UML Activity Diagram (Project Workflow)</a:t>
            </a:r>
            <a:endParaRPr sz="3400" u="sng"/>
          </a:p>
        </p:txBody>
      </p:sp>
      <p:sp>
        <p:nvSpPr>
          <p:cNvPr id="364" name="Google Shape;364;g3a91d11d088_1_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pic>
        <p:nvPicPr>
          <p:cNvPr id="365" name="Google Shape;365;g3a91d11d088_1_8"/>
          <p:cNvPicPr preferRelativeResize="0"/>
          <p:nvPr/>
        </p:nvPicPr>
        <p:blipFill rotWithShape="1">
          <a:blip r:embed="rId3">
            <a:alphaModFix/>
          </a:blip>
          <a:srcRect b="0" l="0" r="0" t="0"/>
          <a:stretch/>
        </p:blipFill>
        <p:spPr>
          <a:xfrm>
            <a:off x="2282100" y="1229725"/>
            <a:ext cx="4094100" cy="5012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a91d11d088_1_18"/>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2000" u="sng">
                <a:latin typeface="Arial"/>
                <a:ea typeface="Arial"/>
                <a:cs typeface="Arial"/>
                <a:sym typeface="Arial"/>
              </a:rPr>
              <a:t>UML Sequence Diagram </a:t>
            </a:r>
            <a:endParaRPr b="1" sz="2300" u="sng"/>
          </a:p>
        </p:txBody>
      </p:sp>
      <p:sp>
        <p:nvSpPr>
          <p:cNvPr id="372" name="Google Shape;372;g3a91d11d088_1_1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pic>
        <p:nvPicPr>
          <p:cNvPr id="373" name="Google Shape;373;g3a91d11d088_1_18"/>
          <p:cNvPicPr preferRelativeResize="0"/>
          <p:nvPr/>
        </p:nvPicPr>
        <p:blipFill>
          <a:blip r:embed="rId3">
            <a:alphaModFix/>
          </a:blip>
          <a:stretch>
            <a:fillRect/>
          </a:stretch>
        </p:blipFill>
        <p:spPr>
          <a:xfrm>
            <a:off x="520750" y="1305850"/>
            <a:ext cx="8360200" cy="4919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3a9200c369a_0_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pic>
        <p:nvPicPr>
          <p:cNvPr id="380" name="Google Shape;380;g3a9200c369a_0_3"/>
          <p:cNvPicPr preferRelativeResize="0"/>
          <p:nvPr/>
        </p:nvPicPr>
        <p:blipFill>
          <a:blip r:embed="rId3">
            <a:alphaModFix/>
          </a:blip>
          <a:stretch>
            <a:fillRect/>
          </a:stretch>
        </p:blipFill>
        <p:spPr>
          <a:xfrm>
            <a:off x="93975" y="106475"/>
            <a:ext cx="4606425" cy="6645050"/>
          </a:xfrm>
          <a:prstGeom prst="rect">
            <a:avLst/>
          </a:prstGeom>
          <a:noFill/>
          <a:ln>
            <a:noFill/>
          </a:ln>
        </p:spPr>
      </p:pic>
      <p:sp>
        <p:nvSpPr>
          <p:cNvPr id="381" name="Google Shape;381;g3a9200c369a_0_3"/>
          <p:cNvSpPr txBox="1"/>
          <p:nvPr/>
        </p:nvSpPr>
        <p:spPr>
          <a:xfrm>
            <a:off x="4919600" y="1869500"/>
            <a:ext cx="3930000" cy="11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u="sng">
                <a:solidFill>
                  <a:schemeClr val="dk1"/>
                </a:solidFill>
                <a:latin typeface="Calibri"/>
                <a:ea typeface="Calibri"/>
                <a:cs typeface="Calibri"/>
                <a:sym typeface="Calibri"/>
              </a:rPr>
              <a:t>UML CLASS DIAGRAM</a:t>
            </a:r>
            <a:endParaRPr sz="3200" u="sng">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a9200c369a_0_13"/>
          <p:cNvSpPr txBox="1"/>
          <p:nvPr>
            <p:ph type="title"/>
          </p:nvPr>
        </p:nvSpPr>
        <p:spPr>
          <a:xfrm>
            <a:off x="5389325" y="804799"/>
            <a:ext cx="3382200" cy="4164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u="sng"/>
              <a:t>Component </a:t>
            </a:r>
            <a:br>
              <a:rPr lang="en-US" u="sng"/>
            </a:br>
            <a:r>
              <a:rPr lang="en-US" u="sng"/>
              <a:t>Diagram</a:t>
            </a:r>
            <a:endParaRPr u="sng"/>
          </a:p>
        </p:txBody>
      </p:sp>
      <p:sp>
        <p:nvSpPr>
          <p:cNvPr id="388" name="Google Shape;388;g3a9200c369a_0_1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pic>
        <p:nvPicPr>
          <p:cNvPr id="389" name="Google Shape;389;g3a9200c369a_0_13"/>
          <p:cNvPicPr preferRelativeResize="0"/>
          <p:nvPr/>
        </p:nvPicPr>
        <p:blipFill>
          <a:blip r:embed="rId3">
            <a:alphaModFix/>
          </a:blip>
          <a:stretch>
            <a:fillRect/>
          </a:stretch>
        </p:blipFill>
        <p:spPr>
          <a:xfrm>
            <a:off x="394550" y="131500"/>
            <a:ext cx="5073050" cy="6388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a9200c369a_0_21"/>
          <p:cNvSpPr txBox="1"/>
          <p:nvPr>
            <p:ph type="title"/>
          </p:nvPr>
        </p:nvSpPr>
        <p:spPr>
          <a:xfrm>
            <a:off x="4679400" y="422775"/>
            <a:ext cx="4232700" cy="4171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u="sng"/>
              <a:t> DATA FLOW DIAGRAM</a:t>
            </a:r>
            <a:endParaRPr u="sng"/>
          </a:p>
        </p:txBody>
      </p:sp>
      <p:sp>
        <p:nvSpPr>
          <p:cNvPr id="396" name="Google Shape;396;g3a9200c369a_0_2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US"/>
              <a:t>‹#›</a:t>
            </a:fld>
            <a:endParaRPr/>
          </a:p>
        </p:txBody>
      </p:sp>
      <p:pic>
        <p:nvPicPr>
          <p:cNvPr id="397" name="Google Shape;397;g3a9200c369a_0_21"/>
          <p:cNvPicPr preferRelativeResize="0"/>
          <p:nvPr/>
        </p:nvPicPr>
        <p:blipFill>
          <a:blip r:embed="rId3">
            <a:alphaModFix/>
          </a:blip>
          <a:stretch>
            <a:fillRect/>
          </a:stretch>
        </p:blipFill>
        <p:spPr>
          <a:xfrm>
            <a:off x="339250" y="129199"/>
            <a:ext cx="4439425" cy="6306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Times New Roman"/>
              <a:buNone/>
            </a:pPr>
            <a:r>
              <a:rPr b="1" i="0" lang="en-US" sz="4400" u="none">
                <a:solidFill>
                  <a:schemeClr val="dk1"/>
                </a:solidFill>
                <a:latin typeface="Times New Roman"/>
                <a:ea typeface="Times New Roman"/>
                <a:cs typeface="Times New Roman"/>
                <a:sym typeface="Times New Roman"/>
              </a:rPr>
              <a:t>Conclusion</a:t>
            </a:r>
            <a:endParaRPr/>
          </a:p>
        </p:txBody>
      </p:sp>
      <p:sp>
        <p:nvSpPr>
          <p:cNvPr id="403" name="Google Shape;403;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a:solidFill>
                  <a:srgbClr val="898989"/>
                </a:solidFill>
                <a:latin typeface="Calibri"/>
                <a:ea typeface="Calibri"/>
                <a:cs typeface="Calibri"/>
                <a:sym typeface="Calibri"/>
              </a:rPr>
              <a:t>‹#›</a:t>
            </a:fld>
            <a:endParaRPr/>
          </a:p>
        </p:txBody>
      </p:sp>
      <p:sp>
        <p:nvSpPr>
          <p:cNvPr id="404" name="Google Shape;404;p14"/>
          <p:cNvSpPr txBox="1"/>
          <p:nvPr/>
        </p:nvSpPr>
        <p:spPr>
          <a:xfrm>
            <a:off x="457200" y="1417625"/>
            <a:ext cx="8153400" cy="4294500"/>
          </a:xfrm>
          <a:prstGeom prst="rect">
            <a:avLst/>
          </a:prstGeom>
          <a:noFill/>
          <a:ln>
            <a:noFill/>
          </a:ln>
        </p:spPr>
        <p:txBody>
          <a:bodyPr anchorCtr="0" anchor="t" bIns="45700" lIns="91425" spcFirstLastPara="1" rIns="91425" wrap="square" tIns="45700">
            <a:spAutoFit/>
          </a:bodyPr>
          <a:lstStyle/>
          <a:p>
            <a:pPr indent="0" lvl="0" marL="457200" marR="0" rtl="0" algn="l">
              <a:lnSpc>
                <a:spcPct val="150000"/>
              </a:lnSpc>
              <a:spcBef>
                <a:spcPts val="0"/>
              </a:spcBef>
              <a:spcAft>
                <a:spcPts val="0"/>
              </a:spcAft>
              <a:buNone/>
            </a:pPr>
            <a:r>
              <a:rPr lang="en-US" sz="2100">
                <a:solidFill>
                  <a:schemeClr val="dk1"/>
                </a:solidFill>
                <a:latin typeface="Times New Roman"/>
                <a:ea typeface="Times New Roman"/>
                <a:cs typeface="Times New Roman"/>
                <a:sym typeface="Times New Roman"/>
              </a:rPr>
              <a:t>The project is progressing smoothly, with key tasks such as literature review, data extraction, comparative analysis, and system design already completed. The team feels confident about finishing the remaining documentation and PPT work on time, as the project is research-based and well-organized. The expected outcome is a clear understanding of how social media and AI impact youth, along with practical counseling suggestions and a balanced evaluation of benefits and risks, which can help guide safer and healthier technology use among young people.</a:t>
            </a:r>
            <a:endParaRPr sz="1500"/>
          </a:p>
        </p:txBody>
      </p:sp>
      <p:pic>
        <p:nvPicPr>
          <p:cNvPr id="405" name="Google Shape;405;p14"/>
          <p:cNvPicPr preferRelativeResize="0"/>
          <p:nvPr/>
        </p:nvPicPr>
        <p:blipFill rotWithShape="1">
          <a:blip r:embed="rId3">
            <a:alphaModFix/>
          </a:blip>
          <a:srcRect b="0" l="0" r="0" t="0"/>
          <a:stretch/>
        </p:blipFill>
        <p:spPr>
          <a:xfrm>
            <a:off x="7172325" y="127000"/>
            <a:ext cx="1971675" cy="809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5"/>
          <p:cNvSpPr txBox="1"/>
          <p:nvPr/>
        </p:nvSpPr>
        <p:spPr>
          <a:xfrm>
            <a:off x="179387" y="873125"/>
            <a:ext cx="8929800" cy="6453900"/>
          </a:xfrm>
          <a:prstGeom prst="rect">
            <a:avLst/>
          </a:prstGeom>
          <a:noFill/>
          <a:ln>
            <a:noFill/>
          </a:ln>
        </p:spPr>
        <p:txBody>
          <a:bodyPr anchorCtr="0" anchor="t" bIns="45700" lIns="91425" spcFirstLastPara="1" rIns="91425" wrap="square" tIns="45700">
            <a:spAutoFit/>
          </a:bodyPr>
          <a:lstStyle/>
          <a:p>
            <a:pPr indent="0" lvl="0" marL="73025" marR="0" rtl="0" algn="l">
              <a:lnSpc>
                <a:spcPct val="100000"/>
              </a:lnSpc>
              <a:spcBef>
                <a:spcPts val="400"/>
              </a:spcBef>
              <a:spcAft>
                <a:spcPts val="0"/>
              </a:spcAft>
              <a:buClr>
                <a:schemeClr val="dk1"/>
              </a:buClr>
              <a:buSzPts val="2000"/>
              <a:buFont typeface="Times New Roman"/>
              <a:buNone/>
            </a:pPr>
            <a:r>
              <a:rPr b="1" i="1" lang="en-US" sz="2600" u="sng">
                <a:solidFill>
                  <a:schemeClr val="dk1"/>
                </a:solidFill>
                <a:latin typeface="Times New Roman"/>
                <a:ea typeface="Times New Roman"/>
                <a:cs typeface="Times New Roman"/>
                <a:sym typeface="Times New Roman"/>
              </a:rPr>
              <a:t>Journals</a:t>
            </a:r>
            <a:endParaRPr sz="2000"/>
          </a:p>
          <a:p>
            <a:pPr indent="-349250" lvl="0" marL="457200" rtl="0" algn="l">
              <a:lnSpc>
                <a:spcPct val="115000"/>
              </a:lnSpc>
              <a:spcBef>
                <a:spcPts val="1200"/>
              </a:spcBef>
              <a:spcAft>
                <a:spcPts val="0"/>
              </a:spcAft>
              <a:buClr>
                <a:schemeClr val="dk1"/>
              </a:buClr>
              <a:buSzPts val="1900"/>
              <a:buAutoNum type="arabicPeriod"/>
            </a:pPr>
            <a:r>
              <a:rPr b="1" lang="en-US" sz="1900">
                <a:solidFill>
                  <a:schemeClr val="dk1"/>
                </a:solidFill>
              </a:rPr>
              <a:t>Cao, S., Bian, J., Ji, X., &amp; Zhang, Y. (2024).</a:t>
            </a:r>
            <a:r>
              <a:rPr lang="en-US" sz="1900">
                <a:solidFill>
                  <a:schemeClr val="dk1"/>
                </a:solidFill>
              </a:rPr>
              <a:t> </a:t>
            </a:r>
            <a:r>
              <a:rPr i="1" lang="en-US" sz="1900">
                <a:solidFill>
                  <a:schemeClr val="dk1"/>
                </a:solidFill>
              </a:rPr>
              <a:t>Machine Learning Approaches for Mental Illness Detection on Social Media: A Systematic Review.</a:t>
            </a:r>
            <a:r>
              <a:rPr lang="en-US" sz="1900">
                <a:solidFill>
                  <a:schemeClr val="dk1"/>
                </a:solidFill>
              </a:rPr>
              <a:t> arXiv:2410.16204.</a:t>
            </a:r>
            <a:r>
              <a:rPr lang="en-US" sz="1900">
                <a:solidFill>
                  <a:schemeClr val="dk1"/>
                </a:solidFill>
                <a:uFill>
                  <a:noFill/>
                </a:uFill>
                <a:hlinkClick r:id="rId3">
                  <a:extLst>
                    <a:ext uri="{A12FA001-AC4F-418D-AE19-62706E023703}">
                      <ahyp:hlinkClr val="tx"/>
                    </a:ext>
                  </a:extLst>
                </a:hlinkClick>
              </a:rPr>
              <a:t> </a:t>
            </a:r>
            <a:r>
              <a:rPr lang="en-US" sz="1900" u="sng">
                <a:solidFill>
                  <a:schemeClr val="hlink"/>
                </a:solidFill>
                <a:hlinkClick r:id="rId4"/>
              </a:rPr>
              <a:t>https://arxiv.org/abs/2410.16204</a:t>
            </a:r>
            <a:br>
              <a:rPr lang="en-US" sz="1900" u="sng">
                <a:solidFill>
                  <a:schemeClr val="hlink"/>
                </a:solidFill>
                <a:hlinkClick r:id="rId5"/>
              </a:rPr>
            </a:br>
            <a:endParaRPr sz="1900" u="sng">
              <a:solidFill>
                <a:schemeClr val="hlink"/>
              </a:solidFill>
            </a:endParaRPr>
          </a:p>
          <a:p>
            <a:pPr indent="-349250" lvl="0" marL="457200" rtl="0" algn="l">
              <a:lnSpc>
                <a:spcPct val="115000"/>
              </a:lnSpc>
              <a:spcBef>
                <a:spcPts val="0"/>
              </a:spcBef>
              <a:spcAft>
                <a:spcPts val="0"/>
              </a:spcAft>
              <a:buClr>
                <a:schemeClr val="dk1"/>
              </a:buClr>
              <a:buSzPts val="1900"/>
              <a:buAutoNum type="arabicPeriod"/>
            </a:pPr>
            <a:r>
              <a:rPr b="1" lang="en-US" sz="1900">
                <a:solidFill>
                  <a:schemeClr val="dk1"/>
                </a:solidFill>
              </a:rPr>
              <a:t>Young, J., Liu, S., &amp; Byrne, R. (2024).</a:t>
            </a:r>
            <a:r>
              <a:rPr lang="en-US" sz="1900">
                <a:solidFill>
                  <a:schemeClr val="dk1"/>
                </a:solidFill>
              </a:rPr>
              <a:t> </a:t>
            </a:r>
            <a:r>
              <a:rPr i="1" lang="en-US" sz="1900">
                <a:solidFill>
                  <a:schemeClr val="dk1"/>
                </a:solidFill>
              </a:rPr>
              <a:t>The Role of AI in Peer Support for Young People.</a:t>
            </a:r>
            <a:r>
              <a:rPr lang="en-US" sz="1900">
                <a:solidFill>
                  <a:schemeClr val="dk1"/>
                </a:solidFill>
              </a:rPr>
              <a:t> CHI Conference on Human Factors in Computing Systems (CHI ’24). arXiv:2405.02711.</a:t>
            </a:r>
            <a:r>
              <a:rPr lang="en-US" sz="1900">
                <a:solidFill>
                  <a:schemeClr val="dk1"/>
                </a:solidFill>
                <a:uFill>
                  <a:noFill/>
                </a:uFill>
                <a:hlinkClick r:id="rId6">
                  <a:extLst>
                    <a:ext uri="{A12FA001-AC4F-418D-AE19-62706E023703}">
                      <ahyp:hlinkClr val="tx"/>
                    </a:ext>
                  </a:extLst>
                </a:hlinkClick>
              </a:rPr>
              <a:t> </a:t>
            </a:r>
            <a:r>
              <a:rPr lang="en-US" sz="1900" u="sng">
                <a:solidFill>
                  <a:schemeClr val="hlink"/>
                </a:solidFill>
                <a:hlinkClick r:id="rId7"/>
              </a:rPr>
              <a:t>https://arxiv.org/abs/2405.02711</a:t>
            </a:r>
            <a:br>
              <a:rPr lang="en-US" sz="1900" u="sng">
                <a:solidFill>
                  <a:schemeClr val="hlink"/>
                </a:solidFill>
                <a:hlinkClick r:id="rId8"/>
              </a:rPr>
            </a:br>
            <a:endParaRPr sz="1900" u="sng">
              <a:solidFill>
                <a:schemeClr val="hlink"/>
              </a:solidFill>
            </a:endParaRPr>
          </a:p>
          <a:p>
            <a:pPr indent="-349250" lvl="0" marL="457200" rtl="0" algn="l">
              <a:lnSpc>
                <a:spcPct val="115000"/>
              </a:lnSpc>
              <a:spcBef>
                <a:spcPts val="0"/>
              </a:spcBef>
              <a:spcAft>
                <a:spcPts val="0"/>
              </a:spcAft>
              <a:buClr>
                <a:schemeClr val="dk1"/>
              </a:buClr>
              <a:buSzPts val="1900"/>
              <a:buAutoNum type="arabicPeriod"/>
            </a:pPr>
            <a:r>
              <a:rPr b="1" lang="en-US" sz="1900">
                <a:solidFill>
                  <a:schemeClr val="dk1"/>
                </a:solidFill>
              </a:rPr>
              <a:t>Yu, L., Chen, B., &amp; Shuster, K. (2025).</a:t>
            </a:r>
            <a:r>
              <a:rPr lang="en-US" sz="1900">
                <a:solidFill>
                  <a:schemeClr val="dk1"/>
                </a:solidFill>
              </a:rPr>
              <a:t> </a:t>
            </a:r>
            <a:r>
              <a:rPr i="1" lang="en-US" sz="1900">
                <a:solidFill>
                  <a:schemeClr val="dk1"/>
                </a:solidFill>
              </a:rPr>
              <a:t>Understanding Generative AI Risks for Youth: A Taxonomy and Escalation Pathways.</a:t>
            </a:r>
            <a:r>
              <a:rPr lang="en-US" sz="1900">
                <a:solidFill>
                  <a:schemeClr val="dk1"/>
                </a:solidFill>
              </a:rPr>
              <a:t> arXiv:2502.16383.</a:t>
            </a:r>
            <a:r>
              <a:rPr lang="en-US" sz="1900">
                <a:solidFill>
                  <a:schemeClr val="dk1"/>
                </a:solidFill>
                <a:uFill>
                  <a:noFill/>
                </a:uFill>
                <a:hlinkClick r:id="rId9">
                  <a:extLst>
                    <a:ext uri="{A12FA001-AC4F-418D-AE19-62706E023703}">
                      <ahyp:hlinkClr val="tx"/>
                    </a:ext>
                  </a:extLst>
                </a:hlinkClick>
              </a:rPr>
              <a:t> </a:t>
            </a:r>
            <a:r>
              <a:rPr lang="en-US" sz="1900" u="sng">
                <a:solidFill>
                  <a:schemeClr val="hlink"/>
                </a:solidFill>
                <a:hlinkClick r:id="rId10"/>
              </a:rPr>
              <a:t>https://arxiv.org/abs/2502.16383</a:t>
            </a:r>
            <a:br>
              <a:rPr lang="en-US" sz="1900" u="sng">
                <a:solidFill>
                  <a:schemeClr val="hlink"/>
                </a:solidFill>
                <a:hlinkClick r:id="rId11"/>
              </a:rPr>
            </a:br>
            <a:endParaRPr sz="1900" u="sng">
              <a:solidFill>
                <a:schemeClr val="hlink"/>
              </a:solidFill>
            </a:endParaRPr>
          </a:p>
          <a:p>
            <a:pPr indent="-336550" lvl="0" marL="457200" rtl="0" algn="l">
              <a:lnSpc>
                <a:spcPct val="115000"/>
              </a:lnSpc>
              <a:spcBef>
                <a:spcPts val="0"/>
              </a:spcBef>
              <a:spcAft>
                <a:spcPts val="0"/>
              </a:spcAft>
              <a:buClr>
                <a:schemeClr val="dk1"/>
              </a:buClr>
              <a:buSzPts val="1700"/>
              <a:buAutoNum type="arabicPeriod"/>
            </a:pPr>
            <a:r>
              <a:rPr b="1" lang="en-US" sz="1900">
                <a:solidFill>
                  <a:schemeClr val="dk1"/>
                </a:solidFill>
              </a:rPr>
              <a:t>Arora, S., Krofta, M., &amp; Jourová, V. (2024).</a:t>
            </a:r>
            <a:r>
              <a:rPr lang="en-US" sz="1900">
                <a:solidFill>
                  <a:schemeClr val="dk1"/>
                </a:solidFill>
              </a:rPr>
              <a:t> </a:t>
            </a:r>
            <a:r>
              <a:rPr i="1" lang="en-US" sz="1900">
                <a:solidFill>
                  <a:schemeClr val="dk1"/>
                </a:solidFill>
              </a:rPr>
              <a:t>The Psychological Impacts of Algorithmic and AI-Driven Social Media on Teenagers: A Call to Action.</a:t>
            </a:r>
            <a:r>
              <a:rPr lang="en-US" sz="1900">
                <a:solidFill>
                  <a:schemeClr val="dk1"/>
                </a:solidFill>
              </a:rPr>
              <a:t> Dakota State University. (PDF uploaded by user)</a:t>
            </a:r>
            <a:br>
              <a:rPr lang="en-US" sz="1700">
                <a:solidFill>
                  <a:schemeClr val="dk1"/>
                </a:solidFill>
              </a:rPr>
            </a:br>
            <a:endParaRPr sz="1700">
              <a:solidFill>
                <a:schemeClr val="dk1"/>
              </a:solidFill>
            </a:endParaRPr>
          </a:p>
          <a:p>
            <a:pPr indent="0" lvl="0" marL="73025" marR="0" rtl="0" algn="just">
              <a:lnSpc>
                <a:spcPct val="100000"/>
              </a:lnSpc>
              <a:spcBef>
                <a:spcPts val="1200"/>
              </a:spcBef>
              <a:spcAft>
                <a:spcPts val="0"/>
              </a:spcAft>
              <a:buClr>
                <a:schemeClr val="dk1"/>
              </a:buClr>
              <a:buSzPts val="2000"/>
              <a:buFont typeface="Times New Roman"/>
              <a:buNone/>
            </a:pPr>
            <a:r>
              <a:t/>
            </a:r>
            <a:endParaRPr b="1" sz="2000">
              <a:solidFill>
                <a:schemeClr val="dk1"/>
              </a:solidFill>
              <a:latin typeface="Times New Roman"/>
              <a:ea typeface="Times New Roman"/>
              <a:cs typeface="Times New Roman"/>
              <a:sym typeface="Times New Roman"/>
            </a:endParaRPr>
          </a:p>
        </p:txBody>
      </p:sp>
      <p:sp>
        <p:nvSpPr>
          <p:cNvPr id="411" name="Google Shape;411;p15"/>
          <p:cNvSpPr txBox="1"/>
          <p:nvPr/>
        </p:nvSpPr>
        <p:spPr>
          <a:xfrm>
            <a:off x="3711575" y="269875"/>
            <a:ext cx="1614487"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References</a:t>
            </a:r>
            <a:endParaRPr/>
          </a:p>
        </p:txBody>
      </p:sp>
      <p:pic>
        <p:nvPicPr>
          <p:cNvPr id="412" name="Google Shape;412;p15"/>
          <p:cNvPicPr preferRelativeResize="0"/>
          <p:nvPr/>
        </p:nvPicPr>
        <p:blipFill rotWithShape="1">
          <a:blip r:embed="rId12">
            <a:alphaModFix/>
          </a:blip>
          <a:srcRect b="0" l="0" r="0" t="0"/>
          <a:stretch/>
        </p:blipFill>
        <p:spPr>
          <a:xfrm>
            <a:off x="7172325" y="127000"/>
            <a:ext cx="1971675" cy="809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2024-09-06T03:49:57Z</dcterms:created>
  <dc:creator>Hp</dc:creator>
</cp:coreProperties>
</file>